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39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CLASS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 &amp; Privacy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· Risk Assessment · Secure Communications · Authentication, Authorization &amp; Accounting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 |  Undergraduate Course  |  AI 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4 —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931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IoT security landscape: threat taxonomy and real-world incidents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 assessment for IoT systems: STRIDE, TARA, and threat modeling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Secure communications: TLS, DTLS, certificate management at scale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AAA framework: authentication, authorization, and accounting for IoT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Privacy by design in IoT: GDPR, data minimization, differential privacy</a:t>
            </a:r>
            <a:endParaRPr lang="en-US" sz="16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Lab: Python TLS-secured MQTT + JWT authentication (no hardware required)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 Threats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IoT Security is Uniquely Challenging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877053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ts val="18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are the weakest link in organizational security — but they connect to critical infrastructure</a:t>
            </a:r>
            <a:endParaRPr lang="en-US" sz="1400" dirty="0"/>
          </a:p>
          <a:p>
            <a:pPr marL="342900" indent="-342900">
              <a:lnSpc>
                <a:spcPts val="18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security challenges vs. traditional IT: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hardware: no OS-level security features, no TPM, no hardware RNG on $2 MCUs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lifetimes: industrial sensors deployed for 10–20 years — outlive software support cycles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exposure: sensors on exterior walls, bridges, fields — anyone can physically access them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ecosystem: 500+ vendors, no common security baseline, no patching discipline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operation: no screen/keyboard for user to notice attack indicators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attacking one vulnerability can be automated across millions of identical devices simultaneously</a:t>
            </a:r>
            <a:endParaRPr lang="en-US" sz="1400" dirty="0"/>
          </a:p>
          <a:p>
            <a:pPr marL="342900" indent="-342900">
              <a:lnSpc>
                <a:spcPts val="18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severity is high — IoT attacks affect physical world: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compromised PLC → conveyor belt overspeed → mechanical damage + worker injury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building: thermostat hack → HVAC failure in server room → data center outage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infusion pump hack → incorrect drug dosage → patient harm</a:t>
            </a:r>
            <a:endParaRPr lang="en-US" sz="1400" dirty="0"/>
          </a:p>
          <a:p>
            <a:pPr marL="685800" lvl="1" indent="-342900">
              <a:lnSpc>
                <a:spcPts val="18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treatment: manipulated pH levels → public health emergency (Oldsmar, Florida 2021)</a:t>
            </a:r>
            <a:endParaRPr lang="en-US" sz="1400" dirty="0"/>
          </a:p>
          <a:p>
            <a:pPr marL="342900" indent="-342900">
              <a:lnSpc>
                <a:spcPts val="18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2024 Data Breach Report: IoT devices involved in 13% of all breaches — up from 5% in 2020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28647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Threat Taxonomy: OWASP IoT Top 10 (2018, updated 2023)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Top 10 — the industry reference for IoT vulnerability categories: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Weak, guessable, or hardcoded passwords: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 (2016): scanned internet for Telnet/SSH with 62 default credential pairs → compromised 600K cameras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against Dyn DNS → took down Twitter, Netflix, Reddit for 6 hours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Insecure network services: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Telnet (port 23), unencrypted HTTP admin panels, unnecessary open 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Insecure ecosystem interfaces: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with no rate limiting or input validation; mobile app with cleartext token 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— Lack of secure update mechanisms: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OTA update → vulnerabilities persist forever; unsigned updates → attacker pushes malware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— Use of insecure or outdated components: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OpenSSL 1.0.1 (EOL 2020) with Heartbleed still running on IP cameras in 2024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— Insufficient privacy protection: sending PII in cleartext; retaining data longer than needed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— Insecure data transfer and storage: no TLS on MQTT; SQLite DB with no encryption on gateway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— Lack of device management: no remote wipe, no device decommissioning process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— Insecure default settings: Wi-Fi AP mode open by default; debug serial UART always enabled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— Lack of physical hardening: JTAG/UART debug ports exposed; flash memory readable via SPI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IoT Security Incidents: Lessons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 (2016) — the defining IoT security event: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automated scanner found 600,000 consumer cameras/routers with default credentials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Telnet brute-force with 62 manufacturer default username/password pairs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1.2 Tbps DDoS → Dyn DNS outage → half the US internet unreachable for 6 hours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default credentials must be banned; each device needs unique password from factory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Triton/TRISIS Industrial Attack (2017):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Schneider Electric Triconex Safety Instrumented System (SIS) at Saudi petrochemical plant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spear-phishing → IT network → pivot to OT network → malware targeted SIS PLCs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disable safety shutdown systems → enable catastrophic physical explosion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IT/OT network segmentation is critical; safety systems must be air-gapped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Verkada Camera Breach (2021):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Verkada security cameras accessed by hackers including hospital ICUs, Tesla factory, jails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super-admin credentials found in exposed Jenkins server — gave access to all customers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cloud IoT platform admin credentials must be protected; minimal-privilege API keys required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Oldsmar Water Treatment (2021):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used TeamViewer (remote desktop) to increase sodium hydroxide (lye) levels by 11,100%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by alert operator who saw mouse cursor moving and reversed the change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critical infrastructure requires multi-person authorization for dangerous parameter changes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Attack Vectors: The Full Surface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59536"/>
            <a:ext cx="4151376" cy="1293863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941833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Attacks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" y="1252729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decapping, JTAG/UART debug access, power glitching attacks (Rowhammer), cold-boot attacks, firmware extraction via SPI flash reader. Mitigation: epoxy-potted boards, fuse JTAG after manufacturing.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72584" y="859536"/>
            <a:ext cx="4268216" cy="1293867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941833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52729"/>
            <a:ext cx="414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(MQTT without TLS), replay attacks (old sensor readings injected), DDoS (volume floods), DNS spoofing (redirect device to malicious broker). Mitigation: TLS 1.3, certificate pinning, rate limiting.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39" y="2235694"/>
            <a:ext cx="4151377" cy="1435621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" y="2267705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Attacks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" y="2583187"/>
            <a:ext cx="4023360" cy="107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OTA update (if no signing), firmware extraction + reverse engineering, buffer overflow in parsing code (Ripple20 — 19 vulnerabilities in Treck TCP/IP stack affecting 100M+ devices). Mitigation: secure boot, signed updates, SBOM.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72584" y="2235694"/>
            <a:ext cx="4268216" cy="1490485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267705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Attacks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583172"/>
            <a:ext cx="4140200" cy="1079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without auth = anyone can publish false data to your topics. Zigbee unencrypted beacons. BLE MITM pairing. Z-Wave downgrade attack. Mitigation: TLS on MQTT, Zigbee security level 5, BLE LE Secure Connections.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808477"/>
            <a:ext cx="4151376" cy="1207008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" y="3890773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Attacks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" y="4201669"/>
            <a:ext cx="4023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(observe MCU power consumption while processing AES key → extract key bits). Timing attacks on RSA. EM emission analysis. Mitigation: masking in crypto libraries, constant-time implementations, hardware AES.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2584" y="3808477"/>
            <a:ext cx="4268216" cy="1234440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890773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201668"/>
            <a:ext cx="4140200" cy="74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firmware at factory (SolarWinds-style for hardware). Counterfeit components. Backdoored BSP (board support package). Mitigation: SBOM (Software Bill of Materials), code signing, hardware attestation.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988053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for IoT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Modeling for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1"/>
            <a:ext cx="8595360" cy="3840475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Microsoft's threat modeling framework — categorizes threats by type of violation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Spoofing: attacker pretends to be a legitimate device or user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rogue sensor publishes fake temperature readings; attacker impersonates edge gateway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mutual TLS (client certificates), device attestation, X.509 device identity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Tampering: attacker modifies data in transit or at rest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MQTT message modified in transit to change setpoint; InfluxDB records altered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TLS for transport integrity; HMAC for message integrity; encrypted 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Repudiation: actor denies performing an action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malicious actuator command sent, operator denies responsibility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signed commands with device certificates; immutable audit log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Information Disclosure: unauthorized access to data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MQTT traffic sniffed on open broker; GPS location data leaked from fleet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TLS 1.3 encryption; private broker with ACLs; data minimization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Denial of Service: attacker makes system unavailable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MQTT broker flooded with publish messages; gateway CPU overwhelmed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rate limiting, connection throttling, ACL by topic, Kafka backpressure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Elevation of Privilege: attacker gains more access than authorized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example: device with read-only cert can publish to command topic; API key with full admin access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Countermeasure: MQTT ACL (per-topic read/write permissions); OAuth scope enforcement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TARA: Threat Analysis and Risk Assessment (ISO 21434 / UNECE WP.29)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886968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TARA: structured automotive cybersecurity risk assessment — adopted for industrial IoT and smart vehicles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from ISO/SAE 21434 (Road Vehicle Cybersecurity), now widely applied to IIoT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methodology steps: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Asset Identification: list all IoT components with value: firmware, keys, sensor data, actuation commands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Threat Scenario Analysis: for each asset, enumerate possible attack scenarios (STRIDE helps)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Impact Rating: rate cybersecurity impact on Safety (S), Operational (O), Financial (F), Privacy (P)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Safety impact: S0 (none) → S3 (life-threatening); Operational: O0 → O3 (critical service loss)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Attack Feasibility: rate how easy the attack is: elapsed time, expertise, resources, window of opportunity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Risk Determination: Risk = Impact × Feasibility → Risk Level 1–5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Risk Treatment: Accept / Avoid / Transfer / Mitigate — select security controls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example for MQTT broker: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 MQTT broker admin credentials | Threat: Spoofing (stolen credentials)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S2 (loss of control), O3 (complete service loss) → high impact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low expertise needed, credential stuffing is automated → high feasibility</a:t>
            </a:r>
            <a:endParaRPr lang="en-US" sz="1400" dirty="0"/>
          </a:p>
          <a:p>
            <a:pPr marL="577850" lvl="1" indent="-23495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5 (Critical) → Mitigation: MFA on admin, per-device certificates, audit log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 Annex A: 93 controls organized in 4 domains — organizational, people, physical, technological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EN 303 645: Consumer IoT Cybersecurity Standard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96111"/>
            <a:ext cx="8412481" cy="389076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EN 303 645 (published 2020): the first dedicated cybersecurity standard for consumer IoT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by: EU Cyber Resilience Act (CRA, 2024) — binding for all IoT products sold in EU from 2027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implemented similar rules: PSTI Act 2022 — in force from April 2024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provisions of EN 303 645: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default passwords — each device must have unique password or no password (force setup)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means to manage reports of vulnerabilities — public disclosure contact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 — OTA update capability, signed updates, update notification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 credentials and security-sensitive data — no cleartext keys in flash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securely — TLS 1.2+ for all cloud communication; no self-signed certs for production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exposed attack surface — disable unused services; close unused ports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software integrity — secure boot chain; cryptographic verification of firmware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personal data is protected — GDPR principles embedded in device design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systems resilient to outages — fail-safe defaults when cloud is unreachable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system telemetry data — log monitoring capability</a:t>
            </a:r>
            <a:endParaRPr lang="en-US" sz="1200" dirty="0"/>
          </a:p>
          <a:p>
            <a:pPr marL="342900" lvl="1"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11–13. Delete personal data; make installation easy and secure; validate input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marking for IoT products: from CRA effective date, non-compliant IoT devices cannot be sold in EU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Ch.11, Pg 210-243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Communications for IoT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for IoT: The Foundation of Secure MQTT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84047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 Security (TLS): cryptographic protocol providing authentication, integrity, confidentiality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(RFC 8446, 2018): current standard — mandatory minimum for new IoT deployments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improvements over TLS 1.2 critical for IoT: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1-RTT handshake (vs. 2-RTT in 1.2): halves connection establishment time — vital for duty-cycled MCUs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0-RTT resumption: reconnecting device sends data with first packet — no handshake delay on reconnect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mandated: all cipher suites use ephemeral keys (DHE/ECDHE) — compromised key doesn't expose past traffic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weak algorithms: no RSA key exchange, no CBC, no RC4, no MD5/SHA-1 in TLS 1.3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cipher suites in TLS 1.3 (only 5, all strong):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TLS_AES_128_GCM_SHA256 — fastest, recommended for IoT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TLS_AES_256_GCM_SHA384 — higher security, more compute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TLS_CHACHA20_POLY1305_SHA256 — software-efficient, good for MCUs without AES hardware acceleration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types for IoT: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v3: standard PKI certificate; RSA-2048 or EC P-256 (smaller, faster for IoT)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(Elliptic Curve Cryptography): P-256 key = 256 bits vs. RSA-2048 = 2048 bits — 8× smaller, 10× faster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TLS (MQTTS): port 8883 — standard for production IoT; never use port 1883 (cleartext) in production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DTLS: TLS for UDP-Based Protocols (CoAP)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96112"/>
            <a:ext cx="8595359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 (Datagram TLS, RFC 6347): TLS adapted for UDP — used with CoAP for constrained IoT devices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DTLS needed: CoAP runs on UDP; TLS requires TCP — need equivalent security for UDP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 differences from TLS:</a:t>
            </a:r>
            <a:endParaRPr lang="en-US" sz="1400" dirty="0"/>
          </a:p>
          <a:p>
            <a:pPr marL="685800" lvl="1" indent="-342900">
              <a:lnSpc>
                <a:spcPts val="17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explicit sequence numbers to handle UDP packet reordering</a:t>
            </a:r>
            <a:endParaRPr lang="en-US" sz="1400" dirty="0"/>
          </a:p>
          <a:p>
            <a:pPr marL="685800" lvl="1" indent="-342900">
              <a:lnSpc>
                <a:spcPts val="17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handshake retransmission timer — UDP drops packets, DTLS retries automatically</a:t>
            </a:r>
            <a:endParaRPr lang="en-US" sz="1400" dirty="0"/>
          </a:p>
          <a:p>
            <a:pPr marL="685800" lvl="1" indent="-342900">
              <a:lnSpc>
                <a:spcPts val="17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layer sequence number protection — uses UDP port for multiplexing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 1.2 (RFC 6347): current widely deployed version; DTLS 1.3 (RFC 9147, 2022) brings TLS 1.3 improvements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 handshake: 4 flights (ClientHello → ServerHello → Certificate → Finished) — takes ~400 ms on 868 MHz LoRa link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 IoT: DTLS Connection ID (RFC 9146) allows DTLS session to survive device IP change</a:t>
            </a:r>
            <a:endParaRPr lang="en-US" sz="1400" dirty="0"/>
          </a:p>
          <a:p>
            <a:pPr marL="685800" lvl="1" indent="-342900">
              <a:lnSpc>
                <a:spcPts val="17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NB-IoT/eMTC devices that sleep and re-register with new IP — no full re-handshake needed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keys (PSK) mode: MCU uses PSK instead of certificates — eliminates certificate verification overhead</a:t>
            </a:r>
            <a:endParaRPr lang="en-US" sz="1400" dirty="0"/>
          </a:p>
          <a:p>
            <a:pPr marL="685800" lvl="1" indent="-342900">
              <a:lnSpc>
                <a:spcPts val="178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PSK-TLS: 50 µJ per handshake vs. 3,000 µJ for RSA — orders of magnitude cheaper on battery</a:t>
            </a:r>
            <a:endParaRPr lang="en-US" sz="1400" dirty="0"/>
          </a:p>
          <a:p>
            <a:pPr marL="342900" indent="-342900">
              <a:lnSpc>
                <a:spcPts val="178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mbed TLS (ARM, open-source), wolfSSL (designed for MCUs, 20 KB ROM), TinyCrypt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PKI: Certificate Lifecycle Management at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8869679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(Public Key Infrastructure): system for issuing, managing, and revoking X.509 certificates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PKI challenges differ fundamentally from web PKI: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million devices each need unique certificate — automated issuance mandatory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Longevity: device lifespan 10–20 years vs. web cert 90-day renewal — long-lived certs with revocation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devices: certificate verification may require 500 ms on slow MCU — optimize algorithm choice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PKI architecture: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CA: offline, air-gapped, hardware HSM — signs Intermediate CA certificates only; keys never touch network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 (Manufacturing CA): issues device certificates during factory provisioning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certificate: unique per-device EC P-256 certificate, burned into flash at factory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CA: issues gateway/server certificates for TLS server endpoints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enrollment methods: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(RFC 7030, Enrollment over Secure Transport): HTTP/TLS-based; used by industrial IoT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 (Simple Certificate Enrollment Protocol): older, Cisco-origin; widely deployed in enterprise IoT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(RFC 8555): Let's Encrypt protocol — automated, free for gateway/server certs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revocation: CRL (Certificate Revocation List) too large for MCUs → OCSP Stapling preferred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Core: managed IoT PKI — auto-creates device certs, handles rotation, supports Just-in-Time Registration (JITR)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9789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Secure Boot 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1"/>
            <a:ext cx="1554480" cy="2761485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Bootloader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1463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code in silicon ROM. Verifies Stage-1 bootloader hash (SHA-256). Cannot be modified — hardware root of trust.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353311"/>
            <a:ext cx="1554480" cy="2761485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94560" y="1700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Bootloader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2203704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protected flash. Verifies Stage-2 or OS kernel signature using RSA-2048 or EC P-256 public key.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49040" y="1353311"/>
            <a:ext cx="1554480" cy="2761485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40480" y="1700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/ RTOS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2203704"/>
            <a:ext cx="1371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OS or RTOS boots. Mounts encrypted file system (AES-256-XTS). Verifies application image.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1353311"/>
            <a:ext cx="1554480" cy="2761485"/>
          </a:xfrm>
          <a:prstGeom prst="roundRect">
            <a:avLst>
              <a:gd name="adj" fmla="val 58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2531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86400" y="1700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203704"/>
            <a:ext cx="1463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application firmware runs. Connects to cloud using provisioned X.509 device certificate via TLS 1.3.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353311"/>
            <a:ext cx="1554480" cy="2761485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2320" y="1700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2203704"/>
            <a:ext cx="14630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proves identity to cloud using device certificate + challenge-response. Cloud verifies chain to Root CA.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 &amp; Accounting (AAA)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 | Book-2, Ch.5, Pg 123-146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Framework: The Three Pillars of IoT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96112"/>
            <a:ext cx="8595359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= Authentication + Authorization + Accounting — the complete access control framework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from RADIUS (RFC 2865, 1997) for network access; adapted for IoT ecosystem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WHO are you? (verify identity)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 (PSK): shared secret between device and server — simple but doesn't scale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certificate: device presents signed certificate — scalable, auditable, revocable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Token): signed token for stateless authentication — used in IoT REST APIs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2.0: delegation protocol — device gets access token without exposing long-term credentials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WHAT are you allowed to do? (enforce permissions)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ACL: per-client, per-topic read/write permissions (e.g., device can only publish to its own topic)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(Role-Based Access Control): roles (admin, operator, sensor) with permission sets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(Attribute-Based Access Control): policies combine device attributes (location, type, health) for fine-grained control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Accounting: WHAT did you do? (audit trail)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connection, publish, subscribe, and command logged with timestamp and certificate fingerprint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shipped to SIEM (Security Information and Event Management) for anomaly detection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log: append-only storage (WORM) or blockchain anchoring for forensic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and OpenID Connect for IoT Devices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need to call REST APIs (e.g., firmware update server, digital twin API) securely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(RFC 6749): authorization framework — device gets time-limited access token, not long-term password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flows suitable for IoT: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Flow: for device-to-service (no human login) — device uses client_id + client_secret → access token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Authorization Flow (RFC 8628): for devices with limited input (smart TV, IoT display)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Device shows code on screen; user enters code on separate phone/PC to authorize → device polls for token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Token, RFC 7519): stateless token used as OAuth access token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{'alg': 'RS256', 'typ': 'JWT'} — signature algorithm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{'sub': 'device-001', 'scope': 'telemetry:write', 'exp': 1735689600} — claims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HMAC-SHA256 or RSA-256 over base64(header).base64(payload)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benefit: gateway validates JWT locally without calling auth server each time — offline-capable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OAuth integration: MQTT CONNECT packet carries JWT in password field; broker validates signature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IoT: uses Signature Version 4 (SigV4) for REST API calls + X.509 for MQTT authentication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rotation: short-lived access tokens (15 min) + long-lived refresh tokens (30 days) — compromise is time-limited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Security: ACLs, TLS, and Authentication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MQTT: the #1 IoT security misconfiguration — millions of open MQTT brokers on Shodan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IoT search: 'port:1883' returns 50,000+ open MQTT brokers exposing industrial/medical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security checklist for production: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Enable TLS 1.3 on port 8883 — never use port 1883 (cleartext) in production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Require client authentication: X.509 client cert OR username/password minimum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Configure ACL: each device can only publish/subscribe to its own topic namespace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Enable Last Will and Testament: broker auto-publishes 'offline' status on abnormal disconnect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Set keepalive: detect dead connections within 1.5× keepalive interval (e.g., 60 s keepalive → 90 s detection)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Limit connection rate: prevent brute-force by rate-limiting new connections per IP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broker ACL file example: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device-001  → topic read iot/device-001/commands  → topic write iot/device-001/telemetry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admin-dashboard → topic readwrite iot/#  → topic readwrite $SYS/#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Enterprise: RBAC with LDAP integration, audit logging, Kafka extension, TLS termination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policies: IAM-like JSON policies per certificate; topic patterns support ${iot:ClientId}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'iot:Publish' on 'iot/device/${iot:ClientId}/data' — each device can only publish to its own topic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Security: Defense-in-Depth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0163" y="822960"/>
            <a:ext cx="9164781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6397" y="896112"/>
            <a:ext cx="43787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Firmware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6957" y="896112"/>
            <a:ext cx="43787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 Application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71532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44805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Hardware Root of Trust: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TrustZone: secure enclave on Cortex-M23/M33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ATECC608B: dedicated crypto co-processor with secure key storage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Boot: ROM verifies every bootloader stage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 (Physical Unclonable Function): device fingerprint from silicon variation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Firmware Security: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OTA updates (Ed25519 signature)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(Software Bill of Materials): all libraries tracked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canaries + ASLR on capable MCUs</a:t>
            </a:r>
            <a:endParaRPr lang="en-US" sz="1400" dirty="0"/>
          </a:p>
          <a:p>
            <a:pPr marL="184150" indent="-18415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 of all parser code (libFuzzer)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39" y="1280160"/>
            <a:ext cx="4593847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Network Security: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on all cloud communications (port 8883)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pinning: reject unexpected server certs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segmentation: IoT VLAN separate from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allow only outbound 8883 → broker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Application Security: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ACL: per-device topic namespacing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short-lived JWT for API calls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reject malformed JSON payloads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Monitoring: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integration: ship all device logs to Splunk/Elastic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ML model on device behavior baseline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playbook: isolate → investigate → patch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9011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in IoT: GDPR, Data Minimization, Differential Privacy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Ch.5, Pg 123-146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IoT: Privacy Obligations for Device Makers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 General Data Protection Regulation, effective May 2018): applies to all IoT processing EU personal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IoT context: far broader than name/email: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(GPS coordinates, Wi-Fi triangulation) → identifies home, workplace, habits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(fingerprint scanner, face recognition camera, voice, gait) → GDPR Article 9, special category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(medical sensor readings: ECG, glucose, blood pressure) → special category, highest protection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(smart meter usage patterns → inferring home occupancy, sleep patterns)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GDPR obligations for IoT manufacturers: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basis: must have consent, legitimate interest, or contract to process IoT sensor data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limitation: collected data cannot be used for a different purpose without new consent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minimization: only collect the minimum data necessary for the stated purpose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limitation: delete data when no longer needed — no indefinite cloud storage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rights: right to erasure ('right to be forgotten') — must delete from cloud + edge + backup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25: Privacy by Design and by Default — privacy protections must be embedded in product architecture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Fines: up to €20M or 4% of global turnover — Amazon fined €746M in Luxembourg (2021)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IoT-specific guidance: EDPB Guidelines on connected vehicles, smart home, and wearable devices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Ch.5, Pg 123-146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Privacy-Enhancing Technologies for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86968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(PbD): 7 foundational principles for IoT product development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Proactive not reactive — anticipate privacy risks before deploying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Privacy as the default — maximum privacy settings out of the box; user opts in to share more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Privacy embedded into design — not bolt-on compliance checkbox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Full functionality — privacy and functionality are not a zero-sum trade-off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End-to-end security — device-to-cloud TLS + at-rest encryption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Visibility and transparency — open about what is collected and why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Respect for user privacy — user-centric controls and data portability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Privacy: mathematical framework to add controlled noise to data so individual cannot be identified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uses DP for keyboard usage statistics from 1 billion iPhones without learning any individual's typing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RAPPOR: frequency estimation across Chrome users with (ε,δ)-differential privacy guarantee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application: smart building occupancy statistics shared with research without revealing who was there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K-anonymity: publish sensor data only when k≥10 devices share identical attribute values — no individual identifiable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 encryption: compute on encrypted sensor data without decrypting — cloud never sees raw values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simple operations today (sums, averages) — too compute-intensive for complex IoT ML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(see Week 3): the pragmatic privacy solution — train models without centralizing personal IoT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51435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Book-2, Ch.5, Pg 123-146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Python TLS + JWT Authentication — No hardware required</a:t>
            </a:r>
            <a:endParaRPr lang="en-US" sz="1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708CEB-1DE3-C470-E864-67495733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820" y="612016"/>
            <a:ext cx="3175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534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 Secure MQTT with TLS + JWT Authentication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385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Python 3 + paho-mqtt + pyjwt + cryptography + HiveMQ Cloud (free) or local Mosquitto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220" y="1475744"/>
            <a:ext cx="8860779" cy="3573686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TLS-secured MQT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Use HiveMQ Cloud (free tier at hivemq.com/mqtt-cloud/) — provides TLS endpoint automatically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Free cluster: uniqueID.s1.eu.hivemq.cloud:8883 (TLS) + username/password auth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Publisher (secure_publish.py):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client.tls_set(tls_version=ssl.PROTOCOL_TLS_CLIENT)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client.username_pw_set('your_username', 'your_password')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client.connect('uniqueID.s1.eu.hivemq.cloud', 8883, 60)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Verify: Wireshark capture should show TLS encrypted traffic (not readable MQTT)</a:t>
            </a:r>
            <a:endParaRPr lang="en-US" sz="1250" dirty="0"/>
          </a:p>
          <a:p>
            <a:pPr>
              <a:spcAft>
                <a:spcPts val="500"/>
              </a:spcAft>
              <a:buSzPct val="100000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generation and validation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pip install pyjwt cryptography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Generate RS256 private/public key pair (openssl genrsa + openssl rsa -pubout)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Create JWT: jwt.encode({'device_id':'esp32-001','scope':'telemetry:write','exp':...}, key, 'RS256')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Validate JWT: jwt.decode(token, public_key, algorithms=['RS256'])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Simulate: publisher signs each MQTT message payload with JWT claim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Subscriber verifies JWT before accepting data — rejects expired/invalid tokens</a:t>
            </a:r>
            <a:endParaRPr lang="en-US" sz="1250" dirty="0"/>
          </a:p>
          <a:p>
            <a:pPr>
              <a:spcAft>
                <a:spcPts val="500"/>
              </a:spcAft>
              <a:buSzPct val="100000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</a:t>
            </a:r>
            <a:r>
              <a:rPr lang="en-US" sz="125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</a:t>
            </a: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Try connecting without TLS (port 1883) → should be rejected by HiveMQ Cloud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Try publishing with expired JWT → subscriber rejects with 'Token expired' error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Observe Mosquitto broker ACL: attempt to publish to a different device's topic → rejected</a:t>
            </a:r>
            <a:endParaRPr lang="en-US" sz="125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192074-E6A6-F23C-9FB7-45D888E0F196}"/>
              </a:ext>
            </a:extLst>
          </p:cNvPr>
          <p:cNvSpPr txBox="1"/>
          <p:nvPr/>
        </p:nvSpPr>
        <p:spPr>
          <a:xfrm>
            <a:off x="457200" y="1150376"/>
            <a:ext cx="798764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buSzPct val="100000"/>
            </a:pPr>
            <a:r>
              <a:rPr lang="en-US" altLang="zh-TW" sz="12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implement a production-grade secure MQTT connection with certificate-based TLS and JWT auth</a:t>
            </a:r>
            <a:endParaRPr lang="en-US" altLang="zh-TW" sz="125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Code: TLS-Secured MQTT Publisher with JWT Payload Signing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9418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987552"/>
            <a:ext cx="8385048" cy="3401568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ssl, json, time, jwt, datetime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paho.mqtt.client as mqtt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 Configuration ===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   = 'uniqueID.s1.eu.hivemq.cloud’ # HiveMQ Cloud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  = 8883             # TLS port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'iot_device'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'your_secure_password'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   = 'iot/secure/device001/telemetry'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RSA private key for JWT signing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open('device_private_key.pem', 'r') as f: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PRIVATE_KEY = f.read()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make_jwt_payload(device_id, data):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jwt.encode({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'device_id': device_id,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'scope': 'telemetry:write',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'data': data,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'iat': datetime.datetime.utcnow(),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'exp': datetime.datetime.utcnow() + datetime.timedelta(minutes=5)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PRIVATE_KEY, algorithm='RS256')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mqtt.Client(mqtt.CallbackAPIVersion.VERSION2)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client.tls_set(tls_version=ssl.PROTOCOL_TLS_CLIENT)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client.username_pw_set(USERNAME, PASSWORD)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client.connect(BROKER, PORT, 60)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make_jwt_payload('device-001', {'temp': 22.5, 'hum': 65})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client.publish(TOPIC, payload)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time.sleep(5)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Code: TLS-Secured MQTT Subscriber with JWT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9418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229600" cy="3401568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ssl, json, jwt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paho.mqtt.client as mqtt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   = 'uniqueID.s1.eu.hivemq.cloud'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  = 8883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'iot_dashboard'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'your_secure_password'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   = 'iot/secure/device001/telemetry'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RSA public key for JWT verification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open('device_public_key.pem', 'r') as f: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PUBLIC_KEY = f.read()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on_message(client, userdata, message):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claims = jwt.decode(message.payload.decode(),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PUBLIC_KEY,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algorithms=['RS256'])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claims['data']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device = claims['device_id']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print(f'✅ Verified [{device}]: {data}')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jwt.ExpiredSignatureError: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print('❌ Rejected: JWT expired')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jwt.InvalidSignatureError: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print('❌ Rejected: invalid JWT signature')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mqtt.Client(mqtt.CallbackAPIVersion.VERSION2)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client.tls_set(tls_version=ssl.PROTOCOL_TLS_CLIENT)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client.username_pw_set(USERNAME, PASSWORD)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client.on_message = on_message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client.connect(BROKER, PORT, 60)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client.subscribe(TOPIC)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client.loop_forever()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Wrap-Up: Key Takeaways Across 4 Meetings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96112"/>
            <a:ext cx="8595359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— IoT Foundations: IoT = smart objects + connectivity + intelligence. 29 billion devices by 2030. From telegraph (1832) to AI-powered edge devices today.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— Architecture: RFID/NFC/BLE tags identify physical world. MQTT pub/sub is the universal IoT messaging protocol. Interoperability remains the key challenge.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— Edge Intelligence: Process data near the source. TinyML enables on-device AI. Federated learning enables privacy-preserving model training across device fleets.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— Security: IoT attacks have physical consequences. Defense-in-depth: secure boot → TLS 1.3 → MQTT ACLs → AAA → monitoring. Privacy is a design requirement, not an afterthought.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— why IoT matters for AI engineers: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is how AI reaches the physical world — without sensors and actuators, AI is just text and images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(TinyML) is the fastest-growing ML deployment environment — billions of inference endpoints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data is the highest-value ML training data — time-series sensor data for predictive maintenance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 are non-negotiable — compromised IoT = compromised physical infrastructure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steps: AWS IoT Core free tier, Edge Impulse free account, Wokwi simulation, HiveMQ Cloud 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Ch.12, Pg 248-283 | Book-2, Ch.5, Pg 123-146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Class 4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20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104" y="1200716"/>
            <a:ext cx="8933608" cy="3794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Top 10: hardcoded passwords (#1), insecure network services (#2), missing OTA updates (#4) — know these cold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 (2016): 600K cameras with default credentials → 1.2 Tbps DDoS → half the US internet offline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model: Spoofing/Tampering/Repudiation/Info Disclosure/DoS/Elevation — apply to every IoT design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EN 303 645: EU mandatory IoT security standard from 2027 — 13 provisions including no default passwords, signed OTA, TLS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1.3: 1-RTT handshake, forward secrecy mandatory, 5 strong cipher suites — use on port 8883 for MQTT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 + PSK: UDP equivalent of TLS for CoAP; PSK mode uses 50 µJ vs. 3,000 µJ for RSA — battery-critical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= Authentication (who?) + Authorization (what?) + Accounting (audit trail) — three inseparable pillars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Client Credentials + short-lived JWT: stateless IoT API authentication without long-term credential exposure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for IoT: location, biometrics, health data are personal data — purpose limitation, minimization, erasure rights apply</a:t>
            </a:r>
            <a:endParaRPr lang="en-US" sz="1400" dirty="0"/>
          </a:p>
          <a:p>
            <a:pPr marL="184150" indent="-18415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+ Federated Learning: the two key mathematical tools for privacy-preserving IoT AI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9108" y="49240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5796</Words>
  <Application>Microsoft Macintosh PowerPoint</Application>
  <PresentationFormat>如螢幕大小 (16:9)</PresentationFormat>
  <Paragraphs>482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Pao-Ann Hsiung</cp:lastModifiedBy>
  <cp:revision>17</cp:revision>
  <dcterms:created xsi:type="dcterms:W3CDTF">2026-07-11T13:24:12Z</dcterms:created>
  <dcterms:modified xsi:type="dcterms:W3CDTF">2026-10-01T03:36:26Z</dcterms:modified>
</cp:coreProperties>
</file>