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15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CLASS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Definition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Brief History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Pre-historic IoT · Applications · Infrastructure · Standards · Future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 |  Undergraduate Course  |  AI Department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Book-1: Springer Handbook of IoT (Ziegler, 2024)  |  Book-2: Hands-On Industrial IoT (Veneri, 2024)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—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931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IoT? Definitions, history, and the connected world</a:t>
            </a:r>
            <a:endParaRPr lang="en-US" b="1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Pre-historic IoT: telegraph, SCADA, early sensor networks</a:t>
            </a:r>
            <a:endParaRPr lang="en-US" b="1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reality: IoT application domains</a:t>
            </a:r>
            <a:endParaRPr lang="en-US" b="1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IoT infrastructure: layers and components</a:t>
            </a:r>
            <a:endParaRPr lang="en-US" b="1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the IoT: key standards bodies and protocols</a:t>
            </a:r>
            <a:endParaRPr lang="en-US" b="1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IoT: AIoT, digital twins, 5G, sustainability</a:t>
            </a:r>
            <a:endParaRPr lang="en-US" b="1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Python IoT pipeline simulation (no hardware required)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IoT?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What is the Internet of Things?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4082796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Ashton coined the term 'Internet of Things' at Procter &amp; Gamble in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Ashton's definition: </a:t>
            </a:r>
            <a:r>
              <a:rPr lang="en-US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physical objects embedded with sensors, software, and connectivity to exchange data with other devices and systems over the internet</a:t>
            </a:r>
            <a:endParaRPr lang="en-US" i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ITU-T Y.2060 (2012) formal definition: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global infrastructure for the information society, enabling advanced services by interconnecting (physical and virtual) things based on existing and evolving interoperable information and communication technologies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Handbook definition (Ziegler, 2024):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=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objects + connectivity + intelligence 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enabling autonomous sensing, communication, and actuation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is NOT just connected devices — it is the ability to collect data, derive insight, and trigger action autonomously</a:t>
            </a:r>
            <a:endParaRPr lang="en-US" b="1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essential capabilities: </a:t>
            </a:r>
            <a:r>
              <a:rPr lang="en-US" b="1" u="sng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· Sensing · Connectivity</a:t>
            </a:r>
            <a:endParaRPr lang="en-US" b="1" u="sng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by the Numbers — Market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 billion connected IoT devices globally in 2023 (IoT Analytics)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 exceed 29 billion devices by 2030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IoT market value: USD 662 billion (2023) → USD 1.3 trillion by 2030 (CAGR 13%)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verticals with highest IoT penetration: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 (IIoT): 4.6 billion devices — predictive maintenance, quality control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home: 3.1 billion devices — lighting, HVAC, security, appliances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/ smart grid: 1.2 billion meters deployed globally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500M+ connected medical devices — remote monitoring, glucose sensors, ECG patches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cities: 350M+ devices — traffic, parking, waste management, environmental sensors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volume: IoT devices generated 73.1 ZB of data per year in 2025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 Numbers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29B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by 2030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32384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Analytics projection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20040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2030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332384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USD, CAGR 13%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0" y="11430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ZB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806441" y="2468880"/>
            <a:ext cx="3138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IoT Data (2025)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0" y="332384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forecast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Value Chain: How Value is Created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world layer: sensors, actuators, RFID tags, embedded processors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convert physical phenomena to electrical signals: temperature, pressure, light, motion, chemical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convert electrical commands to physical action: motors, valves, relays, displays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layer: wired and wireless communication channels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Short-range: BLE, Zigbee, Wi-Fi  |  Long-range: LoRaWAN, NB-IoT, LTE-M  |  Local: Ethernet, RS-485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layer: edge computing (on-device), fog (local gateway), cloud (data center)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layer: business logic, dashboards, APIs, user interfaces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layer: AI/ML models that derive actionable insight from sensor data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raw sensor data → processed information → actionable insight → automated decision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temperature sensor (°C reading) → anomaly detection (is this abnormal?) → alert + valve shut-off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 Value Chain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1554480" cy="260604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019556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0195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actuators detect physical world. Temperature, pressure, vibration, light, location, chemical.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1353312"/>
            <a:ext cx="1554480" cy="2606040"/>
          </a:xfrm>
          <a:prstGeom prst="roundRect">
            <a:avLst>
              <a:gd name="adj" fmla="val 588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019556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0195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481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94560" y="1920240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data via short- or long-range wireless or wired protocols to gateway or cloud.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49040" y="1353312"/>
            <a:ext cx="1554480" cy="260604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9392" y="1019556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0195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1481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40480" y="1920240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and store raw data in time-series databases, data lakes, or edge stores.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4960" y="1353312"/>
            <a:ext cx="1554480" cy="2606040"/>
          </a:xfrm>
          <a:prstGeom prst="roundRect">
            <a:avLst>
              <a:gd name="adj" fmla="val 588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25312" y="1019556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10195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1481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0" y="1920240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data: rule-based alerts, statistical models, or ML inference to extract insight.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0880" y="1353312"/>
            <a:ext cx="1554480" cy="260604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71232" y="1019556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10195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1481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32320" y="1920240"/>
            <a:ext cx="14630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automated actions: actuator command, notification, dashboard update, business workflow.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Pre-historic IoT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Ch.2, Pg 33-39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Pre-historic IoT: Forerunners of Connected Things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3755391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of networked physical devices predates the modern internet by over a century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key milestones: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1832 — Electric telegraph (Schilling): first electrical long-distance information transmission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1876 — Telephone (Bell): real-time voice over wire — the first 'connected thing'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1920s–1950s — SCADA (Supervisory Control and Data Acquisition): remote industrial monitoring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over telephone lines and radio to monitor power plants, pipelines, rail networks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true 'machines talking to machines' at industrial scale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 — MIT Lincoln Lab: first packet-switched network (precursor to ARPANET)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 — ARPANET: 4 nodes, UCLA–Stanford–UCSB–Utah — the internet is born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 — Ethernet (Metcalfe at Xerox PARC): local area networking for connected computers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 — First vending machine on the internet: Carnegie Mellon Coke machine reports inventory via ARPANET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Ch.2, Pg 33-39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Pre-historic IoT: The M2M Era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877056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 (M2M) communication: 1990s–2000s — the direct predecessor of IoT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M2M characteristics: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or star topology (device → server)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(GSM/GPRS) or landline connectivity — no Wi-Fi or Bluetooth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Purpose-built, closed, proprietary systems — no interoperability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 shared beyond the operator's own systems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applications in the 1990s–2000s: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metering: automated electricity and gas meter reading over PSTN/GSM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tracking: GPS + GSM in trucks and taxis — first mass-market connected devices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cash machines: real-time balance verification via dial-up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Point-of-sale terminals: credit card authorization over telephone lines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M2M to IoT: IP connectivity, open standards, cloud platforms, and AI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= M2M + Internet protocols + Cloud + Analytics + AI + Interoperability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Ch.2, Pg 33-39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vs. IoT: A Direct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896112"/>
            <a:ext cx="0" cy="3749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4023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(Pre-IoT):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Closed, proprietary protocol stacks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Device-to-server only (star topology)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(SMS/GPRS) or PSTN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integration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 layer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per-device, manually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standardization across vendors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GSM-based gas meter reader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79" y="1280160"/>
            <a:ext cx="4230093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(Modern):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standards: MQTT, CoAP, HTTP, BLE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Device-to-device, device-to-cloud, cloud-to-device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BLE, Zigbee, LoRaWAN, NB-IoT, 5G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Cloud-native: AWS IoT, Azure IoT Hub, GCP IoT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for anomaly detection and prediction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management, OTA updates at scale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oneM2M, W3C WoT, IEEE 802.15.4 standards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Smart grid with demand response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Ch.2, Pg 33-39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Reality: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Application Domains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Ch.1, Pg 4-16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Application Domains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7"/>
            <a:ext cx="4151376" cy="1195069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101498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" y="1325880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appliances, lighting (Matter/Zigbee), HVAC control, security cameras, voice assistants (Alexa, Google Home). 300M+ homes by 2025.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00600" y="932687"/>
            <a:ext cx="4023360" cy="1195059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28616" y="101498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IoT (IIoT)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28616" y="1325880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maintenance, asset tracking, robot coordination, quality control via vision AI. 75% of manufacturers piloting by 2024.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2337694"/>
            <a:ext cx="4151376" cy="1195069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" y="2419991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2730887"/>
            <a:ext cx="4156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(ECG, SpO2, glucose), hospital asset tracking, remote patient monitoring, smart pill dispensers. Reduces hospital readmission by 25%.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2337694"/>
            <a:ext cx="4023360" cy="1195059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28616" y="2419991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28616" y="2730887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control, smart parking, air quality monitoring, waste bin sensors, smart street lighting. Barcelona saves €37M/year.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7"/>
            <a:ext cx="4151376" cy="1195069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" y="377647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" y="4087370"/>
            <a:ext cx="3895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irrigation (soil moisture sensors), livestock tracking, drone-based crop scouting, yield prediction AI. Reduces water use by 40%.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00600" y="3694177"/>
            <a:ext cx="4023360" cy="1195059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28616" y="377647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Logistics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28616" y="4087370"/>
            <a:ext cx="3895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shipment tracking (GPS+BLE), cold-chain temp monitoring, automated warehouse (AMR robots), cargo condition sensors.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4874117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Ch.1, Pg 4-16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Smart Factory (Industry 4.0)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= IoT + AI + Cyber-Physical Systems + Cloud for manufacturing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Rexroth Factory (Stuttgart): 200+ IoT-connected machines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sensors on CNC machines detect bearing wear 3 weeks before failure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unplanned downtime: saves €4.2M/year in avoided production stops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monitoring: IoT sensors identified 25% electricity waste → now saved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Digital Factory, Amberg: 99.9988% quality rate using IoT quality control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IoT sensors + cameras inspect every PCB at 10 inspection points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detected in &lt;10 ms — rejected before next assembly step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Leipzig Plant: 300 RFID-tagged robot carriages self-navigate the factory floor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control — each carriage reads RFID floor tags and negotiates via WLAN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IoT value in manufacturing comes from closing the loop: sense → decide → act autonomously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Ch.1, Pg 4-16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Smart City — Singapore Smart Nation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3913629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Singapore's Smart Nation Initiative (2014–present): most IoT-connected city-state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Lamppost-as-a-Platform (LaaP): 110,000 smart lampposts across the island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lamppost carries: environmental sensors (PM2.5, CO₂, temperature, humidity, noise)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cameras (crowd analytics), Wi-Fi access point, 5G small cell, and EV charging outlet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OneService App: residents report municipal issues (flooding, fallen trees) directly to IoT data layer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Traffic: 5,000+ cameras + radar sensors feed AI traffic signal optimization → 20% less congestion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 Smart Water Grid: 150+ sensors on water distribution network detect pipe leaks in &lt;2 hours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non-revenue water (leakage) from 5% to 4.6% — saves 50 million litres/day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Smart city IoT requires open data standards, privacy-by-design, and cross-agency integration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Ch.1, Pg 4-16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IoT Infrastructure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 Reference Architecture: Four Layers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3913629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Perception Layer (Physical / Device Layer)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sensors, actuators, RFID tags, embedded MCUs, GPS modules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perceive the physical world; convert physical phenomena to data signals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DHT22 temperature sensor, HC-SR04 ultrasonic, PIR motion detector, accelerometer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Network Layer (Transport / Connectivity Layer)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reliably transmit data from perception layer to processing layer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Wi-Fi, BLE, Zigbee, LoRaWAN, NB-IoT, Ethernet, 4G/5G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energy efficiency, range, bandwidth, reliability, security in transit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Middleware Layer (Processing / Service Layer)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receive, store, process, and filter raw data; manage devices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IoT platform (AWS IoT Core), message broker (MQTT), time-series DB (InfluxDB)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Application Layer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present data to end-users; trigger business logic; user interface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Grafana dashboards, mobile apps, ERP integration, digital twin visualization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Infrastructure: Key Building Blocks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bridges IoT device networks to the internet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data from 100s of local sensors (Zigbee/BLE) and forwards via Ethernet/4G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perform local processing, filtering, and protocol translation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Raspberry Pi as gateway, industrial DIN-rail gateways, AWS IoT Greengrass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Broker: hub for publish/subscribe messaging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publish data to topics; subscribers receive only topics they care about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(Mosquitto, HiveMQ, AWS IoT Core) handles millions of concurrent connections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Database: optimized for timestamped IoT data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InfluxDB: purpose-built TSDB; queries like 'average temperature in last 5 minutes'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downsampling, retention policies, continuous queries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Twin: virtual replica of a physical device or system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real-time device state; enables simulation, anomaly detection, and 'what-if' analysis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TwinMaker, Azure Digital Twins, Eclipse Ditto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Data Flow End-to-End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1280160" cy="260604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1586483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25395"/>
            <a:ext cx="10972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reads physical value. MCU digitizes via ADC. Formats as JSON or binary payload.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353312"/>
            <a:ext cx="1280160" cy="2606040"/>
          </a:xfrm>
          <a:prstGeom prst="roundRect">
            <a:avLst>
              <a:gd name="adj" fmla="val 7143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219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20240" y="1586483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2025395"/>
            <a:ext cx="10972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multi-protocol traffic. Filters duplicates. Applies local rules. Forwards upstream.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1353312"/>
            <a:ext cx="1280160" cy="260604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935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91840" y="1586483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2025395"/>
            <a:ext cx="10972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receives published message. Routes to all subscribers. Applies QoS guarantees.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353312"/>
            <a:ext cx="1280160" cy="2606040"/>
          </a:xfrm>
          <a:prstGeom prst="roundRect">
            <a:avLst>
              <a:gd name="adj" fmla="val 7143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63440" y="1586483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2025395"/>
            <a:ext cx="10972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Core receives message. Triggers rule engine. Routes to storage and analytics.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1353312"/>
            <a:ext cx="1280160" cy="260604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67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5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35040" y="1586483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35040" y="2025395"/>
            <a:ext cx="10972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DB stores readings. Data lake stores raw events. Retention policies applied.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0" y="1353312"/>
            <a:ext cx="1280160" cy="2606040"/>
          </a:xfrm>
          <a:prstGeom prst="roundRect">
            <a:avLst>
              <a:gd name="adj" fmla="val 7143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083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083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6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06640" y="1586483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06640" y="2025395"/>
            <a:ext cx="10972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visualize trends. ML models detect anomalies. Alerts trigger actions.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the IoT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Standards Matter in IoT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59536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problem: 450+ IoT platforms, 100+ communication protocols, 1000s of device types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standards: vendor lock-in, fragmentation, integration costs, security gaps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goals: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devices from different vendors to communicate transparently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security baselines (authentication, encryption) to prevent Mirai-style botnets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market adoption by reducing integration effort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consumers with privacy and safety requirements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standardization bodies: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IEEE: 802.15.4 (physical layer for Zigbee/Thread), 802.11 (Wi-Fi) — hardware layer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IETF: CoAP (RFC 7252), MQTT (being standardized), 6LoWPAN (RFC 4944) — protocols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oneM2M: global IoT platform standard, horizontal architecture for all verticals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W3C: Web of Things (WoT) — semantic description of IoT devices via Thing Description (TD)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ETSI: EN 303 645 — cybersecurity standard for consumer IoT devices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CSA/Matter: unified smart home protocol — Apple, Google, Amazon, Samsung aligned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IoT Standards at Each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&amp; Network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Interoperability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896112"/>
            <a:ext cx="0" cy="3749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4023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&amp; Network Layer: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802.15.4: PHY/MAC for low-power WPAN (Zigbee, Thread, 6LoWPAN)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802.11ah (Wi-Fi HaLow): sub-GHz Wi-Fi for IoT — 1 km range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5.0 Mesh: Bluetooth Mesh Networking Spec (GATT, ATT, SIG Mesh)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1.0.4: LoRa Alliance LPWAN specification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NB-IoT (Rel-13+): cellular LPWAN standard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EN 303 645: consumer IoT cybersecurity baseline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023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Interoperability Layer: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oneM2M TS-0001: horizontal service layer architecture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WoT Architecture: Thing Description JSON-LD format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1.x (CSA): smart home interoperability over Thread/Wi-Fi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OPC-UA: industrial IoT data model and service standard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 1.0: ISO/IEC 19464, queuing for enterprise IoT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3.x: REST API documentation for IoT cloud platforms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Protocol: Unifying Smart Home IoT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686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6868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1.0 released October 2022 by Connectivity Standards Alliance (CSA)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Apple, Google, Amazon, Samsung, IKEA, Signify (Philips Hue) — 550+ member companies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solves: smart home fragmentation — Alexa, Google Home, HomeKit all incompatible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protocol — runs on top of Wi-Fi, Thread (BLE mesh), and Ethernet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Thread: IEEE 802.15.4-based IPv6 mesh network — low power, self-healing, border router to Wi-Fi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attestation: every Matter device ships with a unique X.509 certificate from the manufacturer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control: works without internet connectivity — commands stay on local network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types currently supported in Matter 1.3: lights, plugs, thermostats, locks, blinds, sensors, TVs, cameras, energy management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adoption: 4,800+ certified products by Q2 2024 — fastest-growing IoT standard in history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for AI students: Matter's open JSON-LD data model integrates with AI pipelines for smart home automation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IoT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 | Book-2, Ch.1, Pg 4-16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IoT Trends 2024–2030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39" y="932687"/>
            <a:ext cx="4084983" cy="1389887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101498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AIoT: AI + IoT Convergence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" y="1325880"/>
            <a:ext cx="3895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embedded at edge devices. On-device inference eliminates cloud round-trip. TinyML on Cortex-M4 MCUs. LLMs for IoT command interpretation.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00600" y="932687"/>
            <a:ext cx="4160520" cy="1389885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28616" y="101498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28616" y="1325880"/>
            <a:ext cx="3895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virtual replicas of physical assets. Simulation before deployment. Predictive maintenance. Azure Digital Twins, AWS TwinMaker, NVIDIA Omniverse.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39" y="2340863"/>
            <a:ext cx="4084983" cy="1389887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" y="242316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Ultra-Reliable Low Latency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" y="2734056"/>
            <a:ext cx="3895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URLLC: &lt;1ms latency + 99.9999% reliability for industrial IoT. Enables real-time robot control, autonomous vehicle V2X, remote surgery.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2340863"/>
            <a:ext cx="4160520" cy="1389885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28616" y="242316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HaLow (IEEE 802.11ah)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28616" y="2734056"/>
            <a:ext cx="3895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Sub-1GHz Wi-Fi with 1 km range + 150+ Mbps. Connects dense sensor deployments. First chips from Morse Micro and Newracom (2023).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39" y="3749039"/>
            <a:ext cx="4084983" cy="1389887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" y="383133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" y="4142232"/>
            <a:ext cx="3895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on MCUs (Cortex-M4, RISC-V) with &lt;1MB RAM. Face detection on Arduino Nicla Vision. Keyword spotting on STM32. Edge Impulse platform.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00600" y="3749039"/>
            <a:ext cx="4160520" cy="1389885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28616" y="383133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IoT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28616" y="4142232"/>
            <a:ext cx="3895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harvesting: solar, RF ambient, piezoelectric. Zero-battery IoT. EnOcean devices harvest from light switches. Carbon footprint accounting for IoT fleets.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524865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and Artificial Intelligence: The AIoT Convergence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527774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= AI as the brain, IoT as the sensory nervous system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AI integration in IoT: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AI: raw data sent to cloud ML models — high latency, bandwidth cost, privacy risk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Fog/Edge AI: inference on local gateway (Raspberry Pi, Jetson Nano) — lower latency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(TinyML): inference on the MCU itself (&lt;1MB RAM) — zero latency, zero bandwidth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use cases in IoT: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maintenance: LSTM models detect bearing degradation from vibration FFT features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Autoencoder models detect unusual energy consumption patterns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vision: YOLO object detection at 30 FPS on Jetson Nano for factory defect inspection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language: LLM-backed voice control (Alexa, Google, Siri) bridging to IoT devices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learning: train ML models across IoT fleet without centralizing raw data → privacy preserved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vision: 50% of new IoT devices will have embedded ML inference capability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Ch.1, Pg 4-24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Session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No hardware required — Python simulation</a:t>
            </a:r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FDE344D-6008-4597-891C-A1E2D3BAA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948" y="371006"/>
            <a:ext cx="1114894" cy="11148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7A00114-6CB9-8F5F-4AD3-785DA4F6A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372" y="789719"/>
            <a:ext cx="3175000" cy="3175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C841704-7317-8AA4-29AF-91B10D2ADD8C}"/>
              </a:ext>
            </a:extLst>
          </p:cNvPr>
          <p:cNvSpPr txBox="1"/>
          <p:nvPr/>
        </p:nvSpPr>
        <p:spPr>
          <a:xfrm>
            <a:off x="7148940" y="1591953"/>
            <a:ext cx="169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/>
                </a:solidFill>
              </a:rPr>
              <a:t>All 4 IoT Labs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1: Python IoT Pipeline Simulation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Python 3 + pip (paho-mqtt, matplotlib, numpy) + HiveMQ Public Broker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13" y="1847088"/>
            <a:ext cx="8780228" cy="3296412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</a:t>
            </a:r>
            <a:r>
              <a:rPr lang="en-US" sz="1400" b="1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Simulate sensor data</a:t>
            </a:r>
            <a:endParaRPr lang="en-US" sz="1400" b="1" dirty="0">
              <a:highlight>
                <a:srgbClr val="FFFF00"/>
              </a:highligh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Generate synthetic temperature + humidity time series with noise and drift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Add anomaly injection: spike at random intervals to simulate sensor fault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</a:t>
            </a:r>
            <a:r>
              <a:rPr lang="en-US" sz="1400" b="1" dirty="0">
                <a:highlight>
                  <a:srgbClr val="FFFF00"/>
                </a:highlight>
                <a:latin typeface="Calibri" pitchFamily="34" charset="0"/>
                <a:cs typeface="Calibri" pitchFamily="34" charset="-120"/>
              </a:rPr>
              <a:t>Data processing pipeline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Apply moving average filter (window=5) to smooth sensor noise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Implement threshold alerting: print ALERT when temp &gt; 35°C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Calculate 5-minute rolling statistics: mean, max, min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b="1" dirty="0">
              <a:solidFill>
                <a:srgbClr val="D1FAE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</a:t>
            </a:r>
            <a:r>
              <a:rPr lang="en-US" sz="1400" b="1" dirty="0">
                <a:highlight>
                  <a:srgbClr val="FFFF00"/>
                </a:highlight>
                <a:latin typeface="Calibri" pitchFamily="34" charset="0"/>
                <a:cs typeface="Calibri" pitchFamily="34" charset="-120"/>
              </a:rPr>
              <a:t>MQTT publish/subscribe without hardware 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Install: pip install paho-mqtt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Use HiveMQ public broker (broker.hivemq.com:1883) — no account needed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Script A: publisher loops, generates fake sensor JSON, publishes to 'iot/lab/sensor1'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Script B: subscriber prints received messages in real-time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</a:t>
            </a:r>
            <a:r>
              <a:rPr lang="en-US" sz="1400" b="1" dirty="0">
                <a:highlight>
                  <a:srgbClr val="FFFF00"/>
                </a:highlight>
                <a:latin typeface="Calibri" pitchFamily="34" charset="0"/>
                <a:cs typeface="Calibri" pitchFamily="34" charset="-120"/>
              </a:rPr>
              <a:t>Visualize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Plot temperature time series with anomalies highlighted in red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Submission: .py file + screenshot of MQTT messages + plot</a:t>
            </a:r>
            <a:endParaRPr lang="en-US" sz="14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0AD7A3A-063B-13B3-D38A-A86F3D1CF3D9}"/>
              </a:ext>
            </a:extLst>
          </p:cNvPr>
          <p:cNvSpPr txBox="1"/>
          <p:nvPr/>
        </p:nvSpPr>
        <p:spPr>
          <a:xfrm>
            <a:off x="363772" y="1170432"/>
            <a:ext cx="8780228" cy="648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zh-TW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Python 3.x, pip install matplotlib </a:t>
            </a:r>
            <a:r>
              <a:rPr lang="en-US" altLang="zh-TW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r>
              <a:rPr lang="en-US" altLang="zh-TW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pandas</a:t>
            </a:r>
            <a:endParaRPr lang="en-US" altLang="zh-TW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zh-TW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Goal: simulate a complete IoT pipeline (sensor → data → processing → visualization) in software</a:t>
            </a:r>
            <a:endParaRPr lang="en-US" altLang="zh-TW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Code: Sensor Simulation + MQTT Publish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3805494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9418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229600" cy="3695766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time, random, datetime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paho.mqtt.client as mqtt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  = 'broker.hivemq.com'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  = 'iot/lab/sensor1'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= mqtt.Client(mqtt.CallbackAPIVersion.VERSION2)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client.connect(BROKER, 1883, 60)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read_sensor():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base_temp = 22.0 + random.gauss(0, 0.5)   # °C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random.random() &lt; 0.05:                 # 5% anomaly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base_temp += random.uniform(10, 20)    # spike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{'ts': datetime.datetime.utcnow().isoformat(),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'temp_c': round(base_temp, 2),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'hum_pct': round(60 + random.gauss(0, 2), 1)}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json.dumps(read_sensor())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client.publish(TOPIC, payload)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print(f'Published: {payload}')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time.sleep(2)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Code: MQTT Subscriber + Anomaly Alert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9418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229600" cy="340156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paho.mqtt.client as mqtt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  = 'broker.hivemq.com'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  = 'iot/lab/sensor1'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  = 35.0   # °C alert threshold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on_message(client, userdata, message):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json.loads(message.payload.decode())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= data['temp_c']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'🚨 ALERT' if temp &gt; THRESH else '✅ OK'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print(f"[{data['ts']}] Temp={temp}°C  Hum={data['hum_pct']}%  {status}")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mqtt.Client(mqtt.CallbackAPIVersion.VERSION2)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client.on_message = on_message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client.connect(BROKER, 1883, 60)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client.subscribe(TOPIC)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print(f'Subscribed to {TOPIC} on {BROKER}')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client.loop_forever()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Meeting 1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= smart objects + connectivity + intelligence; coined by Ashton (1999); 29 billion devices by 2030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Pre-historic IoT: telegraph (1832) → SCADA (1950s) → M2M (1990s) → IoT (2000s); evolution of machine connectivity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vs IoT: IoT adds open standards, cloud integration, AI analytics, and interoperability across vendors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value chain: Sense → Connect → Collect → Analyse → Act — value is created by closing the feedback loop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architecture: Perception → Network → Middleware → Application — each layer has specialized standards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standards: IEEE 802.15.4, LoRaWAN, Matter, oneM2M, W3C WoT, OPC-UA — critical for interoperability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AIoT, digital twins, 5G URLLC, TinyML, Wi-Fi HaLow, sustainable energy harvesting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Python + paho-mqtt simulates full IoT pipeline — publish sensor data, subscribe, detect anomalies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Book-1: Springer Handbook of IoT (Ziegler, 2024)  |  Book-2: Hands-On Industrial IoT (Veneri, 2024)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4044</Words>
  <Application>Microsoft Macintosh PowerPoint</Application>
  <PresentationFormat>如螢幕大小 (16:9)</PresentationFormat>
  <Paragraphs>421</Paragraphs>
  <Slides>32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6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Pao-Ann Hsiung</cp:lastModifiedBy>
  <cp:revision>10</cp:revision>
  <dcterms:created xsi:type="dcterms:W3CDTF">2026-07-11T13:24:08Z</dcterms:created>
  <dcterms:modified xsi:type="dcterms:W3CDTF">2026-09-28T02:09:41Z</dcterms:modified>
</cp:coreProperties>
</file>