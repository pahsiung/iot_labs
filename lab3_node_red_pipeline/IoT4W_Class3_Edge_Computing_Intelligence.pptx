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993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CLASS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Intelligence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· Resource Management · Distributed Intelligence · AIoT at the Edge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  |  Undergraduate Course  |  AI Department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Book-1: Springer Handbook of IoT (Ziegler, 2024)  |  Book-2: Hands-On Industrial IoT (Veneri, 2024)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—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931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Edge computing fundamentals: why, what, and where</a:t>
            </a:r>
            <a:endParaRPr lang="en-US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Resource management at the edge: compute, memory, energy budgets</a:t>
            </a:r>
            <a:endParaRPr lang="en-US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Benefits and challenges of edge intelligence for IoT</a:t>
            </a:r>
            <a:endParaRPr lang="en-US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Distributed intelligence: federated learning, swarm intelligence</a:t>
            </a:r>
            <a:endParaRPr lang="en-US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Building IoT edge infrastructure: Node-RED + edge analytics</a:t>
            </a:r>
            <a:endParaRPr lang="en-US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Lab: Node-RED edge pipeline — sensor data → local rules → dashboard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Fundamentals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Edge Computing? The Case Against Pure Cloud IoT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3199" y="896111"/>
            <a:ext cx="9003323" cy="4082789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— Latency: cloud round-trip adds 50–200 ms; unacceptable for safety-critical control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vehicle: pedestrian detection requires &lt;10 ms decision — cloud is physically impossible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robot collision avoidance: 1 ms response window — must be on-device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surgery (haptic feedback): &gt;20 ms feels like 'sticky' — operator loses precision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— Bandwidth: raw sensor data is enormous and expensive to transmit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factory HD camera generates 3 Gbps of raw video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cameras = 300 Gbps → impossible to stream to cloud continuously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process at the edge, send only 'events' or 'anomaly flags' to cloud (1000× reduction)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 — Reliability: cloud dependency creates single point of failure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internet goes down, cloud-only IoT system goes blind — edge keeps operating locally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 — Privacy and compliance: data sovereignty laws prevent sending certain data to cloud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Article 5(1)(e): personal data must not leave EU without adequate protection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IP: machining parameters are trade secrets — cannot be sent to vendor's cloud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edge computing is not optional for production IoT — it is an architectural requirement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Edge Computing: Terminology and Topology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229600" cy="3913627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computing: processing data near its source rather than centralizing in a remote cloud data center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edge-fog-cloud continuum: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edge (Tier 0): MCU runs ML inference locally — ESP32-S3, STM32H7, Arduino Nicla Vision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Near-edge (Tier 1): device-local gateway — Raspberry Pi 4, NVIDIA Jetson Nano, Intel NUC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Far-edge (Tier 2): enterprise edge server at factory/hospital floor — Dell PowerEdge micro, HPE Edgeline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cloud (Tier 3): CSP regional data center (e.g., AWS us-east-1) — 5–50 ms latency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cloud (Tier 4): global cloud backbone — training, archival, global analytics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by tier: Tier 0 = &lt;1 ms | Tier 1 = 1–10 ms | Tier 2 = 10–30 ms | Tier 3 = 30–100 ms | Tier 4 = 100–500 ms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edge computing market USD 61.1B (2023) → USD 232.1B by 2030 (CAGR 21%)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Drivers: 5G rollout, AI democratization, Industry 4.0, autonomous vehicles, smart cities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Computing: Key Metrics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&lt;10ms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Latency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099113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control applications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1430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1000×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Reduction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0" y="3099113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processing vs. raw stream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11430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$232B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94360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2030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0" y="3099113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21%, IDC forecast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MEC: Multi-Access Edge Computing (ETSI Standard)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8831" y="896111"/>
            <a:ext cx="8833727" cy="4247385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standardized by ETSI ISG MEC (2014–present): edge computing at cellular base station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MEC host co-located with 4G/5G base station → 1–10 ms from any mobile device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ETSI MEC concepts: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Platform: virtualization infrastructure at cell tower running MEC applications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App: containerized workload (e.g., video analytics, AR rendering) running at the tower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 (User Plane Function): 5G network element that steers traffic to MEC host vs. internet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mobility: MEC app can migrate between towers as device moves — session continuity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+ MEC use cases enabled: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AR/VR: game rendering at cell tower → headset receives only display output → untethered VR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(Vehicle-to-Everything): RSU (roadside unit) MEC processes all intersection sensor feeds → &lt;5 ms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fleet: operator at MEC host sees drone video with &lt;10 ms delay even at 4K resolution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standard: ETSI GS MEC 003 — API for MEC applications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AWS Wavelength, Azure Edge Zones, Verizon 5G Edge are commercial MEC deployments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8508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 at the Edge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Resource Constraint Triangle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595360" cy="3972863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IoT devices must balance three competing constraints simultaneously: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1 — Compute: MCUs have 240 MHz max (ESP32) vs. server CPUs at 3+ GHz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ML inference: 1–100 MOPS (million ops per second) on MCU vs. 100 TOPS on GPU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quantize ML models to INT8 (8-bit integers) — 4× size reduction, 2× speed vs. FP32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2 — Memory: MCUs have 256 KB – 8 MB RAM vs. servers with GBs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LSTM model for predictive maintenance with 128 units = 262 KB — barely fits in 512 KB RAM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TinyML model compression — pruning, knowledge distillation, architecture search (MobileNet, EfficientNet-Lite)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3 — Energy: battery-powered sensors have 1,000–10,000 mAh total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active mode (Wi-Fi on): 240 mA → 1000 mAh battery lasts ~4 hours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deep sleep: 10 µA → 1000 mAh battery lasts 11 years!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duty cycling — wake every 15 min, read sensor, publish, go back to sleep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 of edge IoT: what you don't compute doesn't cost energy; sleep is free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Resource-aware design: choose algorithm complexity based on budget, not accuracy maximization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874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Harvesting: Zero-Battery IoT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59536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replacement is the biggest operational cost of large IoT deployments at scale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10,000 sensor nodes × battery replacement every 2 years = 5,000 battery swaps/year → prohibitive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harvesting: capture ambient energy from environment to power IoT node indefinitely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harvesting: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(office light): 10–100 µW/cm² from fluorescent/LED lighting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direct sunlight: 10–15 mW/cm² with monocrystalline solar cell at 22% efficiency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IC: SPV1040 (STMicro) MPPT solar charger + LTC3105 for very low illuminance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harvesting (TEG):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Thermoelectric generator: Seebeck effect — 1 µW to 30 mW from industrial pipe temperature gradient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wireless sensor on steam pipe (200°C) → ambient air (25°C) → 175°C ΔT → self-powered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energy harvesting: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Wi-Fi/cellular radio waves → Powercast P21XXCSR-EVB rectenna → 10–100 µW at 1 m from AP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for BLE beacon or temperature reading every 30 seconds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harvesting: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from machinery → PZT ceramic → 10–1000 µW — self-powered vibration sensor on pump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 EnOcean self-powered switches (no battery, no wiring); Everactive batteryless BLE sensor for industrial monitoring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9789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at the Edge: K3s and KubeEdge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538308" cy="3972865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at scale requires managing 100s–1000s of edge nodes systematically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Kubernetes: the standard container orchestration platform (Google, 2014 → CNCF)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full K8s requires 4 vCPU + 4 GB RAM — too heavy for edge nodes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(Rancher/SUSE): lightweight Kubernetes for edge and IoT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size: 50 MB (vs. 200 MB for K8s); runs on Raspberry Pi 4 with 1 GB RAM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full K8s API compatibility + embedded SQLite DB (no etcd needed) + built-in Helm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manage fleet of Raspberry Pi edge gateways from central K3s server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KubeEdge (CNCF): extends K8s to heterogeneous edge hardware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EdgeCore: lightweight agent on edge device (runs on ARM MCUs with 64 MB RAM)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CloudCore: K8s extension that manages EdgeCore agents remotely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EdgeMesh: distributed service mesh for edge-to-edge communication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Greengrass v2: AWS-managed edge runtime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Lambda functions and Docker containers to edge devices via IoT Core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model: pre-built components for MQTT bridge, inference, stream manager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IoT Edge: deploys Docker containers to edge from Azure IoT Hub + Azure ML edge deployment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and Challenges of Edge Intelligence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Ch.4, Pg 100-111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Edge Intelligence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32688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8056" y="1014984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" y="1325880"/>
            <a:ext cx="3767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inference: 0.5–5 ms vs. 50–300 ms for cloud round-trip. Enables real-time control: motor, robotics, safety shutdown, autonomous navigation.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932688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28616" y="1014984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Savings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28616" y="1325880"/>
            <a:ext cx="3767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camera: 3 Gbps. Edge YOLO inference sends only bounding box JSON: 1 KB/frame. 99.9% bandwidth reduction — makes dense sensor deployments feasible.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" y="218541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Operation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" y="2496312"/>
            <a:ext cx="3767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intelligence operates without internet. Factory floor, ship, remote mine, autonomous vehicle — none can tolerate cloud dependency for safety.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10312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28616" y="218541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Preservation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28616" y="2496312"/>
            <a:ext cx="3767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(face, voice, health vitals) processed on-device, never leaves the edge. Compliant with GDPR, HIPAA, CCPA by design — no consent needed for local processing.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73552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" y="335584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" y="3666744"/>
            <a:ext cx="3767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Core: $1/million messages. 1B messages/day × $1/1M = $1,000/day. Edge processing eliminates 99% of cloud messages → $10/day. Massive savings at scale.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273552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28616" y="335584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28616" y="3666744"/>
            <a:ext cx="3767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99.99% uptime for cloud = 52 min downtime/year. For safety systems, even 1 minute is unacceptable. Edge operation provides local fallback always.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Ch.4, Pg 100-111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Edge Intelligence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Model accuracy vs. size tradeoff: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MobileNetV3-Small: 2.5 MB, 67.4% ImageNet Top-1 accuracy vs. ResNet-50: 98 MB, 76.1%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many real-world tasks, 67% accuracy is insufficient — requires careful task-specific evaluation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Hardware diversity and fragmentation: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 of MCU architectures: ARM Cortex-M, RISC-V, Xtensa, AVR — no single binary runs everywhere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TensorFlow Lite Micro, ONNX Runtime Mobile, Edge Impulse — provide cross-platform runtimes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 — Over-the-Air (OTA) model updates: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 becomes stale as data distribution drifts — accuracy degrades silently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10,000 devices with new model firmware: needs signed update, rollback mechanism, A/B partitioning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4 — Security of edge devices: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access to edge device = potential to extract firmware, model weights, and sensor data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ARM TrustZone, Secure Boot, encrypted model storage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5 — Power management complexity: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cycling breaks TCP connections, MQTT sessions, TLS handshakes — need careful reconnect logic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study: incorrect sleep implementation can actually increase power 3× vs. no sleep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6 — Debugging at the edge: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keyboard, no display — failures manifest as silent data gaps or wrong actuator states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remote logging via MQTT, watchdog timers, heartbeat topics, anomaly-triggered log upload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Ch.4, Pg 100-111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Intelligence at the Edge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 | Book-2, Ch.4, Pg 100-111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Learning: AI Without Centralizing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ML: collect all data in cloud → train model → deploy globally (privacy risk, bandwidth cost)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(Google, McMahan et al., 2017): train ML model across distributed edge devices without sharing raw 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Averaging (FedAvg)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Server sends initial global model to all edge devices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2: Each device trains locally on its own data for N local steps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3: Devices send model gradient updates (not raw data) to server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4: Server aggregates gradients (weighted average) → new global model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convergence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guarantee: raw data never leaves the device — only gradient vectors are shared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federated learning applications: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next-word prediction (Google Gboard): trained on 500M phones without ever seeing user text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predictive maintenance: 100 factories share a vibration anomaly model without sharing proprietary process data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wearables: ECG arrhythmia detection model trained across hospitals without patient data leaving institution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Frameworks: TensorFlow Federated, PySyft (OpenMined), NVIDIA FLARE, Flower (flwr.ai)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communication overhead, non-IID data distributions, adversarial clients (gradient poisoning)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TinyML: Machine Learning on Microcontrollers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229600" cy="3913629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TinyML: ML inference on MCUs with &lt;1 MB RAM and &lt;1 mW power budget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TinyML matters: eliminates cloud dependency for AI — intelligence moves to the endpoint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 enabling TinyML: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Quantization: convert FP32 weights → INT8 (4× smaller, 2–3× faster, &lt;1% accuracy loss typically)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Pruning: remove near-zero weights — structured pruning removes entire filters for hardware speedup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distillation: small 'student' model trained to mimic large 'teacher' model outputs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Architecture Search (NAS): AutoML-optimized architectures for constrained targets (MobileNet, EfficientNet, MCUNet)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enablers: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Cortex-M55: first Cortex-M with Helium SIMD vector extension — 15× ML performance vs. M4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Ambiq Apollo4 Blue: Cortex-M4F with 1 mW AI inference — target for always-on keyword detection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GAP9 (GreenWaves Technologies): RISC-V multi-core with CNN accelerator — 1 TOPS/W efficiency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MLPerf Tiny — standardized benchmarks for Keyword Spotting, Visual Wake Words, Anomaly Detection, Image Classification on MCUs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Edge Impulse (cloud-to-MCU ML pipeline), TensorFlow Lite Micro (TFLM), Arduino ML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Intelligence and Collective IoT Behaviour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595360" cy="4082787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intelligence: collective intelligence emerging from simple, decentralized, self-organizing agents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inspiration: ant colonies (pheromone trails), bee swarms (waggle dance), bird flocking (Reynolds rules)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swarm applications: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swarm search and rescue: 50 drones coordinate without central control; stigmergy-based search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robot swarm: 10 weed-pulling robots share crop map via BLE mesh, never overlap coverage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HVAC: thousands of sensors vote on comfort setpoint — no central thermostat needed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algorithms: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Colony Optimization (ACO): pheromone-based distributed routing — IoT mesh path selection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Swarm Optimization (PSO): collective optimization — antenna array beamforming in 5G base stations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Flocking (Boids): Reynolds 3 rules (separation, alignment, cohesion) → collision-free multi-robot motion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Stigmergy: indirect coordination via environment modification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tags on warehouse shelves = digital pheromone trails — robots modify and read shared state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protocols: each node randomly selects neighbor to share state — converges to global consensus in O(log N) rounds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distributed aggregation — 1000 temperature sensors compute global average without central server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Ch.4, Pg 100-111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Frameworks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Micro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896112"/>
            <a:ext cx="0" cy="3749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40233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Micro (TFLM):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Google/TensorFlow Foundation open-source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Cortex-M4/M7, ESP32, nRF52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ops: subset of TFLite ops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budget: as low as 16 KB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import via tf2onnx → tflite conversion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Micro-benchmark: 5 ms keyword spotting on nRF52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Arduino, PlatformIO, Keil MDK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TensorFlow → TFLite → TFLM converter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1" y="1280160"/>
            <a:ext cx="4846318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Platform: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platform (free tier available)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data capture → model → deploy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Supports: Arduino Nano 33 BLE, ESP32, Raspberry Pi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quantization: FP32 → INT8 with accuracy report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Supports: classification, object detection, anomaly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Studio: no-code web interface for sensor data labeling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edge-impulse-cli for data ingestion from any device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Arduino library or C++ SDK — drop into firmware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Ch.7, Pg 130-142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IoT Data Processing with Apache Kafka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6868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IoT systems need to handle millions of events per second from thousands of devices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Kafka: distributed event streaming platform — the backbone of large-scale IoT data pipelines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architecture: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Broker: Kafka server node that stores and serves messages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named stream of events (e.g., 'factory.line1.temperature')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Partition: horizontal sharding within topic — enables parallel consumption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Group: set of consumers that each read a different partition — scales linearly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1 million messages/second per broker — handles the largest IoT deployments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messages kept for configurable period (1 hour to forever) — replay any time window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Streams: stream processing library — real-time aggregations, joins, windowed stats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5-minute rolling average temperature across all factory sensors — pure stream processing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KSQL: SQL-like query language for Kafka streams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'SELECT AVG(temp) FROM factory_sensors WINDOW TUMBLING (SIZE 5 MINUTES) GROUP BY machine_id'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IoT: MQTT Bridge → Kafka connector (MQTT Source Connector by Confluent) ingests MQTT topics into Kafka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scale: AWS Managed Streaming for Kafka (MSK), Confluent Cloud, Redpanda (Kafka-compatible, 10× lower latency)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Ch.4, Pg 100-111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IoT Edge Infrastructure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Ch.4, Pg 100-111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Node-RED: Visual Flow Programming for IoT Edge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86384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4155947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Node-RED: open-source flow-based programming tool developed by IBM, donated to OpenJS Foundation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on: Node.js — Raspberry Pi, Linux server, Docker, AWS Lambda, Azure IoT Edge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concept: connect 'nodes' with wires to build data flows — no traditional coding needed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node categories: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nodes: MQTT subscriber, HTTP GET, Serial port, File reader, WebSocket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nodes: Function (custom JavaScript), Switch (routing), Change (transform), JSON parse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nodes: MQTT publisher, HTTP POST, Email, Dashboard widget, InfluxDB write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nodes: gauge, chart, text, button — automatic web dashboard on port 1880/ui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capabilities: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caller: make HTTP requests to any cloud API from a flow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Modbus-TCP node: read industrial PLC registers directly into Node-RED flow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node-red-contrib-influxdb: write time-series data to InfluxDB with one node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node-red-contrib-tensorflow: run TFLite model inference inside a Node-RED flow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Installation: npm install -g node-red or runs in Docker container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HTTPS + basic auth for production deployments; Projects mode for Git version control of flows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Node-RED is the most widely deployed IoT edge integration tool — 350K+ active installations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Ch.4, Pg 100-111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IoT Architecture with Node-RED + InfluxDB + Grafana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53311"/>
            <a:ext cx="1554480" cy="2788919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39697"/>
            <a:ext cx="1371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ESP32/Raspberry Pi publish sensor JSON to MQTT broker on local network. No internet needed at this stage.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1353311"/>
            <a:ext cx="1554480" cy="2788919"/>
          </a:xfrm>
          <a:prstGeom prst="roundRect">
            <a:avLst>
              <a:gd name="adj" fmla="val 588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94560" y="1645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(Edge)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94560" y="2139697"/>
            <a:ext cx="1371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MQTT topics. Parses JSON. Applies business rules. Filters noise. Triggers local alerts.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49040" y="1353311"/>
            <a:ext cx="1554480" cy="2788919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7939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3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40480" y="1645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(Edge)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2139697"/>
            <a:ext cx="1371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database receives processed readings from Node-RED. Stores 30 days locally with downsampling.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0" y="1353311"/>
            <a:ext cx="1554480" cy="2788919"/>
          </a:xfrm>
          <a:prstGeom prst="roundRect">
            <a:avLst>
              <a:gd name="adj" fmla="val 588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2531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531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4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86400" y="1645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(Edge)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2139697"/>
            <a:ext cx="1371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layer queries InfluxDB. Real-time dashboards. Alert rules. Accessible on local network.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40880" y="1353311"/>
            <a:ext cx="1554480" cy="2788919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7123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5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32320" y="1645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0" y="2139697"/>
            <a:ext cx="1371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also forwards aggregated/summarized data to cloud (AWS IoT Core / Azure IoT Hub) asynchronously.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Ch.4, Pg 100-111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Session 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Node-RED + MQTT + Dashboard (no hardware required)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LAB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3: Node-RED Edge Pipeline — Sensor Simulation to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Node-RED (npm or Docker) + node-red-dashboard palette + paho-mqtt publisher from Lab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412480" cy="3337560"/>
          </a:xfrm>
          <a:prstGeom prst="rect">
            <a:avLst/>
          </a:prstGeom>
          <a:noFill/>
          <a:ln/>
        </p:spPr>
        <p:txBody>
          <a:bodyPr wrap="square" lIns="0" tIns="50800" rIns="0" bIns="0" numCol="2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Node-RED locally: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Option A: npm install -g node-red → node-red (requires Node.js 18+)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Option B: docker run -it -p 1880:1880 nodered/node-red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Open browser: http://localhost:1880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flow: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1 — 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MQTT input</a:t>
            </a: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Drag MQTT-in node → subscribe to 'iot/lab/sensor1' (from Lab 1 publisher)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Wire to JSON parse node → wire to Debug node → verify messages arriving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2 — 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Add Function node: extract temp, compute alert flag (temp &gt; 35 = ALERT)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Add Switch node: route by alert flag → two branches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Branch 1 (normal): send to Dashboard gauge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Branch 2 (alert): send to Debug console + MQTT-out 'iot/alerts' topic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3 — 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Install via Manage Palette: node-red-dashboard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Add Gauge node (0–50°C range) + Chart node (last 30 readings)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Open http://localhost:1880/ui — live dashboard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4 — 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InfluxDB writer </a:t>
            </a: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(bonus):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Install node-red-contrib-influxdb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Write each reading to InfluxDB local instance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</a:t>
            </a:r>
            <a:r>
              <a:rPr lang="en-US" sz="125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JSON export (copy from Node-RED → Export) + screenshot of dashboard</a:t>
            </a:r>
            <a:endParaRPr lang="en-US" sz="125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3: Node-RED Function Node — Alert Logic (JavaScript)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859536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94183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(Node-RED Function)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8595360" cy="3401568"/>
          </a:xfrm>
          <a:prstGeom prst="rect">
            <a:avLst/>
          </a:prstGeom>
          <a:noFill/>
          <a:ln/>
        </p:spPr>
        <p:txBody>
          <a:bodyPr wrap="square" lIns="0" tIns="50800" rIns="0" bIns="0" numCol="2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Function node: 'Alert Logic'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Input: msg.payload = { ts, temp_c, hum_pct 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same msg with alert flag added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TEMP_HIGH = 35.0;   // °C threshold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TEMP_LOW  = 10.0;   // °C low threshold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temp = msg.payload.temp_c;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hum  = msg.payload.hum_pct;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msg.payload.alert = temp &gt; TEMP_HIGH ? 'HIGH_TEMP' 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temp &lt; TEMP_LOW  ? 'LOW_TEMP'  : 'OK';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msg.payload.heatIndex = temp + 0.33 * (hum / 100 * 6.105 *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Math.exp(17.27 * temp / (237.7 + temp))) - 4.0;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timestamp for InfluxDB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msg.payload.timestamp = new Date().toISOString();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Route: output 1 = normal, output 2 = alert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(msg.payload.alert !== 'OK')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[null, msg];  // alert branch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[msg, null];  // normal branch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A1628"/>
                </a:solidFill>
              </a:rPr>
              <a:t>Class </a:t>
            </a:r>
            <a:r>
              <a:rPr lang="en-US" sz="1200" b="1" dirty="0">
                <a:solidFill>
                  <a:srgbClr val="0A1628"/>
                </a:solidFill>
              </a:rPr>
              <a:t>3 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6868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moves processing near data source — solves latency (&lt;10 ms), bandwidth (1000× reduction), reliability, and privacy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edge: Tier 0 (MCU on-device) → Tier 1 (Raspberry Pi gateway) → Tier 2 (enterprise edge server)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 triangle: Compute (240 MHz MCU) × Memory (256 KB–8 MB) × Energy (10 µA sleep) — must balance all three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harvesting: solar, thermal (TEG), RF, piezoelectric enable zero-battery perpetual IoT nodes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TinyML: INT8 quantization + pruning + distillation enables ResNet-class accuracy on ARM Cortex-M MCUs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Learning: gradient sharing (not raw data) trains global model across 1000s of edge devices — privacy-preserving AI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intelligence: decentralized, emergent collective behaviour (ACO, PSO, gossip protocols) for large device fleets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+ KubeEdge / AWS Greengrass: orchestrate containerized workloads across 100s of edge nodes at scale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Node-RED: visual flow programming — MQTT in → process → dashboard/alert/DB out; 350K+ deployments globally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Node-RED edge pipeline with MQTT input, alert routing, real-time dashboard (http://localhost:1880/ui)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Book-1: Springer Handbook of IoT (Ziegler, 2024)  |  Book-2: Hands-On Industrial IoT (Veneri, 2024)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4247</Words>
  <Application>Microsoft Macintosh PowerPoint</Application>
  <PresentationFormat>如螢幕大小 (16:9)</PresentationFormat>
  <Paragraphs>382</Paragraphs>
  <Slides>27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Pao-Ann Hsiung</cp:lastModifiedBy>
  <cp:revision>8</cp:revision>
  <dcterms:created xsi:type="dcterms:W3CDTF">2026-07-11T13:24:11Z</dcterms:created>
  <dcterms:modified xsi:type="dcterms:W3CDTF">2026-09-29T15:27:08Z</dcterms:modified>
</cp:coreProperties>
</file>