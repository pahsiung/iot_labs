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3317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CLASS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Architecture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Interoperability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Tags · IoT Hardware · Architecture Layers · Cloud Interoperability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498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  |  Undergraduate Course  |  AI Department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Book-1: Springer Handbook of IoT (Ziegler, 2024)  |  Book-2: Hands-On Industrial IoT (Veneri, 2024)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2 —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229600" cy="39319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tags: RFID, NFC, QR, and BLE beacons — identification at scale</a:t>
            </a:r>
            <a:endParaRPr lang="en-US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hardware: MCUs, SBCs, sensors, actuators, and prototyping platforms</a:t>
            </a:r>
            <a:endParaRPr lang="en-US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architecture: reference models, protocol stacks, and edge/fog/cloud</a:t>
            </a:r>
            <a:endParaRPr lang="en-US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in cloud IoT platforms: integration patterns and APIs</a:t>
            </a:r>
            <a:endParaRPr lang="en-US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Wokwi simulation — ESP32 + DHT22 + MQTT (no physical hardware)</a:t>
            </a:r>
            <a:endParaRPr lang="en-US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and recap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Tags: RFID, NFC, BLE Beacons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Ch.3-4, Pg 44-89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Tags: Auto-Identification Technologies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1"/>
            <a:ext cx="8229600" cy="3991193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tags = physical objects with embedded electronic identification capability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keyboard input needed — data read wirelessly by scanners or smartphones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smart tag technologies: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(Radio Frequency Identification): radio waves identify tags passively or actively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(Near Field Communication): short-range (&lt;4 cm) subset of RFID at 13.56 MHz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Beacons: Bluetooth Low Energy broadcasts short packets with ID and telemetry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Codes: optical 2D barcodes — not wireless but ubiquitous for IoT device onboarding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UWB (Ultra-Wideband): precise indoor positioning (&lt;10 cm accuracy) via time-of-flight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size: smart tag market = USD 14.3B (2023) → USD 31.5B by 2030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use cases: retail inventory, supply chain, hospital asset tracking, contactless payment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matter for IoT: smart tags are the bridge between physical objects and digital data systems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IoT deployment at scale (warehouse, hospital, factory) relies on smart tag identification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Ch.3-4, Pg 44-89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RFID: Passive vs. Active vs. Semi-Passive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6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RFID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896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RFID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12327" y="896112"/>
            <a:ext cx="0" cy="3749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340" y="1280160"/>
            <a:ext cx="3931918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RFID: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battery — powered by reader's RF field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0–10 cm (LF/HF) or 1–12 m (UHF)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 (125 kHz): animal microchips, key fobs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(13.56 MHz = NFC): contactless payment, library books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UHF (860–960 MHz): retail tags, pallet tracking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$0.05–$0.25 per tag (UHF Gen2)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EPC Gen2 / ISO 18000-63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Walmart's 1 billion RFID tags/year for retail inventory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80796" y="1280160"/>
            <a:ext cx="5163201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&amp; Semi-Passive RFID: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onboard battery, continuous broadcast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20–100 m — tracks vehicles, trailers, containers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Semi-passive: battery for computation, RF-powered for transmission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RTLS (Real-Time Location Systems): AeroScout, Zebra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hospital patient tracking, airport baggage, mining equipment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tag cost: $5–$25 (reusable, 3–5 year battery life)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Protocols: ISO 24730, IEEE 802.11 (Wi-Fi RTLS), UWB (IEEE 802.15.4a)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GE Healthcare tracks 17,000 medical devices across hospital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Ch.3-4, Pg 44-89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NFC: Near Field Communication in Detail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199" y="896111"/>
            <a:ext cx="8595359" cy="4082791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= ISO 18000-3 (13.56 MHz), range &lt; 4 cm, data rate 106/212/424 kbps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RFID but optimized for interactive use (tap-to-pair, tap-to-pay)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NFC operating modes: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Reader/Writer: smartphone reads NFC tag (URL, vCard, Wi-Fi credentials on sticker)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emulation: phone acts as RFID card — Apple Pay, Google Pay, transit cards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(P2P): two NFC devices exchange data — Android Beam / Handover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tag types (ISO/IEC 14443 Type A/B, ISO 15693):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1/2: NTAG213/216 (888 bytes) — cheapest, most deployed for smart posters, URL tags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4: MIFARE DESFire — encrypted, secure, used in contactless payment and ID cards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applications of NFC: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onboarding: tap phone to IoT device to transfer Wi-Fi credentials (WPS replacement)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authentication: luxury goods, pharmaceuticals (tap to verify on blockchain)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logs: NFC tag on equipment stores last-service date, readable without internet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NFC adoption: 2.2 billion NFC-enabled phones worldwide (2024)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92403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Ch.3-4, Pg 44-89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Beacons: Bluetooth Indoor Positioning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68680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Beacon = BT 4.0+ device that continuously advertises a short packet (no pairing required)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beacon protocols in use: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iBeacon (Apple, 2013): broadcasts 128-bit UUID + Major + Minor ID; iPhone measures RSSI → proximity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Eddystone (Google, 2015): three frame types — URL (physical web), UID (namespace+instance), TLM (telemetry)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AltBeacon (Radius Networks, open source): hardware-vendor neutral alternative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specs: 10m–70m range, coin-cell battery (1–3 years), update interval 100ms–10s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zones: Immediate (&lt;0.5m), Near (0.5–3m), Far (3–30m), Unknown (signal too weak)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5.0 improvements (2016): 2× speed, 4× range, 8× broadcast capacity; Bluetooth Mesh added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IoT applications: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Retail: notify app when customer near product (location-based push notification)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audio tours: exhibit triggers audio when visitor approaches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navigation: airport/hospital wayfinding to &lt;3m accuracy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tracking: Tile-style trackers on equipment, locating via nearby phones' Bluetooth scans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AirTag / Samsung SmartTag: consumer BLE beacons using crowd-sourced network for tracking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Ch.3-4, Pg 44-89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Hardware: MCUs, SBCs, Sensors, Actuators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Ch.3-4, Pg 44-89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Microcontrollers (MCU) vs. Single-Board Computers (SBC)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59536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MCU: microcontroller unit — CPU + RAM + Flash + I/O on a single chip, runs firmware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OS (or bare-metal RTOS) — runs one program continuously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power: 10 µA sleep mode, wake on interrupt — runs months on AAA battery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ATmega328P (Arduino Uno), ESP32 (Wi-Fi+BLE+dual-core 240MHz), STM32, nRF52840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Interfaces: GPIO, UART, SPI, I²C, ADC, PWM, USB, CAN — connect directly to sensors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SBC: single-board computer — full Linux/Windows OS, more powerful, more power-hungry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Raspberry Pi 4 (4-core Cortex-A72, 4GB RAM, USB, HDMI, Ethernet, Wi-Fi)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Python, Node.js, Docker — acts as IoT gateway or local ML inference device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3–7W continuously — needs reliable power supply (not battery-friendly)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MCU: battery-powered sensor nodes, &lt;1 KB data/cycle, latency-critical, cost &lt;$5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SBC: local gateway, camera/vision, ML inference, protocol bridging, cost $35–$80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System-on-Module (SoM) bridges the gap — ESP32-S3 has 8MB RAM + vector instructions for TinyML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Ch.3-4, Pg 44-89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IoT Hardware Components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39" y="932687"/>
            <a:ext cx="4110069" cy="1369389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48056" y="944326"/>
            <a:ext cx="3767328" cy="37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(Espressif)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8055" y="1255222"/>
            <a:ext cx="3848519" cy="73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240 MHz Xtensa LX6, 520KB RAM, Wi-Fi 802.11 b/g/n + BLE 4.2/5.0. Most popular IoT MCU worldwide. $3–8. Supported in Wokwi simulator.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58710" y="932687"/>
            <a:ext cx="4165250" cy="1369389"/>
          </a:xfrm>
          <a:prstGeom prst="roundRect">
            <a:avLst>
              <a:gd name="adj" fmla="val 8475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014984"/>
            <a:ext cx="3895344" cy="37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1325880"/>
            <a:ext cx="4023360" cy="73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Cortex-A72 quad-core 1.8GHz, 1–8GB LPDDR4, Gigabit Ethernet, USB 3.0, 40-pin GPIO. Ideal IoT gateway. Runs full Linux + Python.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" y="2367890"/>
            <a:ext cx="4112920" cy="1369389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" y="2450187"/>
            <a:ext cx="3767328" cy="37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MKR GSM 1400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" y="2761083"/>
            <a:ext cx="3982054" cy="73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SAMD21 + u-blox SARA-G350 cellular modem. 4G LTE-M / NB-IoT connectivity built-in. IoT deployments where Wi-Fi not available.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8710" y="2367890"/>
            <a:ext cx="4165250" cy="1369389"/>
          </a:xfrm>
          <a:prstGeom prst="roundRect">
            <a:avLst>
              <a:gd name="adj" fmla="val 8475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450187"/>
            <a:ext cx="3895344" cy="37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nRF52840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2761083"/>
            <a:ext cx="4023360" cy="73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Cortex-M4F 64MHz + 1MB Flash + 256KB RAM + BLE 5.0 + Thread + Zigbee + USB. Ultra-low-power mesh networking MCU. 1.8–3.6V supply.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040" y="3774111"/>
            <a:ext cx="4110070" cy="1369389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056" y="3792017"/>
            <a:ext cx="3767328" cy="37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Sensor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" y="4102913"/>
            <a:ext cx="3982054" cy="73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temperature (−40–80°C ±0.5°C) + humidity (0–100% ±2%) sensor. Single-wire protocol. 2.5 mA active. The most common IoT lab sensor.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58710" y="3774111"/>
            <a:ext cx="4165250" cy="1369389"/>
          </a:xfrm>
          <a:prstGeom prst="roundRect">
            <a:avLst>
              <a:gd name="adj" fmla="val 8475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3856408"/>
            <a:ext cx="3895344" cy="37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MAX17048 Fuel Gauge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4167304"/>
            <a:ext cx="3895344" cy="73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battery state-of-charge IC. Reports battery % and voltage. Essential for battery-powered IoT nodes needing power management.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4320" y="49243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Ch.3-4, Pg 44-89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 The Perception Layer in Detail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22960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= transducer converting a physical quantity into an electrical signal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sensor categories: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Environmental: temperature (NTC thermistor, DHT22, DS18B20), humidity (capacitive), pressure (BMP280), CO₂ (SCD41 NDIR)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&amp; Position: accelerometer (MPU-6050 6-DoF IMU), PIR (passive infrared), radar (24GHz mmWave)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Optical: photodiode, LDR, OPT3001 ambient light, MLX90614 IR thermometer, camera (OV5640 5MP)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Chemical: MQ-2 (LPG/smoke), MQ-135 (air quality), pH probe (analog), dissolved oxygen sensor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Acoustic: MEMS microphone (SPH0645), ultrasonic rangefinder HC-SR04, piezoelectric vibration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specifications that matter for IoT design: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smallest detectable change (e.g., ±0.5°C resolution)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systematic error vs. true value; need calibration against reference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min/max measurable values without saturation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analog (needs ADC), digital (I²C, SPI, UART) — digital preferred for noise immunity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crucial for battery devices — choose low active current + deep sleep mode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fusion: combining multiple sensors (accelerometer + gyroscope + magnetometer) via Kalman filter for robust positioning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Ch.3-4, Pg 44-89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Actuators: Closing the IoT Control Loop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1"/>
            <a:ext cx="8412480" cy="4082791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= device converting electrical signal into physical action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actuators matter: without actuators, IoT is passive monitoring; with them, it becomes control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actuators in IoT: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Electrical: relay module (switch 240VAC loads), MOSFET (PWM LED/motor control), solenoid valve (water control)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Mechanical: stepper motor (3D printers, valve positioning, blinds), servo motor (angle control 0–180°), DC motor + H-bridge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Thermal: Peltier module (precision temperature control), resistive heater element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SSD1306 OLED (I²C, 0.96"), TFT ILI9341, e-Paper (low power, retains image without power)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Acoustic: piezo buzzer (alert tones), speaker (I²S DAC for voice output)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(Pulse Width Modulation): key MCU technique for analog-like output from digital GPIO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50Hz signal, duty cycle 0–100% controls LED brightness, motor speed, servo angle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has 16 independent LEDC PWM channels at up to 40 MHz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consideration: relay module switches mains voltage — optocoupler isolation required between MCU and relay coil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actuator: servo-actuated proportional control valve with 4–20 mA current loop interface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901183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Ch.3-4, Pg 44-89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Architecture: Layers, Models &amp; Protocol Stacks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Ch.5-6, Pg 94-126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Reference Architecture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1"/>
            <a:ext cx="8412480" cy="3877055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reference architectures exist — all describe the same system with different abstractions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IoT-A (EU FP7 Project) Reference Architecture: most comprehensive academic model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Perception: physical sensors, actuators, RFID, embedded MCUs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Network: connectivity, transport, routing (Wi-Fi, BLE, LoRa, Ethernet)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Service: middleware, device management, data storage, event processing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Application: user-facing apps, dashboards, APIs, business logic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Business: value model, data monetization, regulatory compliance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FIWARE Architecture (EU Horizon, open source):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Enablers: Orion Context Broker (NGSI-LD standard), IoT Agent, QuantumLeap TSDB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oneM2M Layered Architecture (global M2M standard):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logical entities: Application Entity (AE), Common Services Entity (CSE), Network Services Entity (NSE)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provides 12 standard services: Device Management, Discovery, Location, Security, Analytics, etc.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Reference Architecture: Device Fleet → AWS IoT Core → Rules Engine → Analytics → DynamoDB → Lambda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each layer is independently scalable and replaceable — this is the power of layered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Ch.5-6, Pg 94-126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IoT Architecture: Edge · Fog · Cloud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53312"/>
            <a:ext cx="1965960" cy="2606040"/>
          </a:xfrm>
          <a:prstGeom prst="roundRect">
            <a:avLst>
              <a:gd name="adj" fmla="val 465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9329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329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160934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Tier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048256"/>
            <a:ext cx="178308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and actuators. On-device MCU processing. BLE/Zigbee/LoRa local comms. Sub-millisecond response. &lt;1MB RAM budget for TinyML.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4600" y="1353312"/>
            <a:ext cx="1965960" cy="2606040"/>
          </a:xfrm>
          <a:prstGeom prst="roundRect">
            <a:avLst>
              <a:gd name="adj" fmla="val 4651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5069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069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697480" y="160934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Tier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2048256"/>
            <a:ext cx="178308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gateway / edge server (Raspberry Pi, industrial PC). MQTT broker. Local rule engine. Protocol translation. Caches data if cloud unreachable.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1353312"/>
            <a:ext cx="1965960" cy="2606040"/>
          </a:xfrm>
          <a:prstGeom prst="roundRect">
            <a:avLst>
              <a:gd name="adj" fmla="val 465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809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809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3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54880" y="160934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Tier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2048256"/>
            <a:ext cx="178308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platform (AWS IoT Core, Azure IoT Hub). Device registry for millions of devices. Time-series DB. Stream analytics. ML training pipeline.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29400" y="1353312"/>
            <a:ext cx="1965960" cy="2606040"/>
          </a:xfrm>
          <a:prstGeom prst="roundRect">
            <a:avLst>
              <a:gd name="adj" fmla="val 4651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65492" y="1106424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5492" y="1106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4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812280" y="160934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20840" y="2048256"/>
            <a:ext cx="178308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Web/mobile dashboards. REST/GraphQL APIs. Digital twin visualization. Business intelligence. ERP/MES integration via APIs.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Ch.5-6, Pg 94-126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Protocol Stack: From Physical to Application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3102" y="822959"/>
            <a:ext cx="8595360" cy="4261415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Layer: electromagnetic signal transmission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Radio: 2.4GHz (Wi-Fi/BLE/Zigbee), 868/915MHz (LoRa/Z-Wave), 700–900MHz (NB-IoT/LTE-M)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Wired: RS-485 Modbus (industrial), Ethernet 802.3, CAN bus (automotive/industrial)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 Layer: frame format, addressing, MAC access control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802.15.4: MAC layer for Zigbee, Thread, 6LoWPAN — CSMA-CA collision avoidance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802.11: Wi-Fi MAC — CSMA/CA + RTS/CTS, power save polling for IoT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Layer: addressing and routing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IPv6: 128-bit addresses — the solution to IoT device address exhaustion (IPv4 can't scale to 29B devices)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6LoWPAN: adapts IPv6 over 802.15.4 (compresses 40-byte IPv6 header to 8 bytes)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Layer: reliable delivery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TCP: reliable, ordered, connection-oriented — used where reliability &gt; efficiency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UDP: unreliable, fast — preferred by CoAP; allows multicasting to device groups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Layer: message format and semantics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MQTT: publish/subscribe, QoS 0/1/2, 2-byte fixed header — optimal for constrained devices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CoAP: REST-like (GET/PUT/POST/DELETE) over UDP — for MCUs with no TCP stack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HTTP/REST + JSON: for gateway-to-cloud; too heavy for MCUs but standard for cloud APIs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LwM2M: OMNA/OMA standard built on CoAP — device management protocol (OTA updates, config)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Ch.5-6, Pg 94-126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Deep Dive: The Lingua Franca of IoT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199" y="822960"/>
            <a:ext cx="8529145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(Message Queuing Telemetry Transport): publish/subscribe messaging protocol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 IBM's Andy Stanford-Clark + Arcom's Arlen Nipper (1999) for oil pipeline telemetry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by OASIS (2013) — MQTT 3.1.1 (2014), MQTT 5.0 (2019)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principles: minimal overhead, async messaging, reliable delivery on lossy networks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clients publish to topics, broker routes to all subscribers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examples: Eclipse Mosquitto (open-source), HiveMQ (enterprise), AWS IoT Core, EMQX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structure: hierarchical, slash-separated — e.g., 'factory/line1/machine3/temperature'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Wildcards: '+' (single level) — 'factory/+/machine3/temperature' matches any line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Wildcards: '#' (multi-level) — 'factory/#' matches everything under factory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Service (QoS) levels: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0: at most once (fire and forget) — fastest, may lose messages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1: at least once (acknowledged) — may duplicate, but guaranteed delivery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2: exactly once (four-way handshake) — slowest, no duplicates, banking/medical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5.0 additions: message expiry, user properties, subscription identifiers, shared subscriptions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Will and Testament (LWT): broker publishes offline alert if device disconnects abnormally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06065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Ch.5-6, Pg 94-126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in Cloud IoT Platforms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Ch.5-6, Pg 94-126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Interoperability Challenge in IoT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1"/>
            <a:ext cx="8537028" cy="3840477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= the ability of different IoT systems to exchange and use information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severe fragmentation — 500+ IoT platforms, 100+ protocols, 1000s of device types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of interoperability (IEEE definition):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interoperability: physical/logical connection (can data be transmitted?)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 interoperability: same data format (can the data be parsed? JSON vs XML vs Protobuf)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interoperability: same meaning (does 'temperature' in system A mean the same as in system B?)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interoperability: business processes and governance aligned across organizations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semantic interoperability is hardest: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'temperature' in weather IoT = ambient air; in manufacturing IoT = machine coolant; in medical IoT = body temp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shared semantics, AI models trained on one system fail when deployed on another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poor interoperability: McKinsey estimates 40% of IoT value is locked behind integration friction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being deployed: oneM2M (horizontal platform), W3C WoT Thing Descriptions, FIWARE NGSI-LD, Matter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interoperability is the #1 barrier to IoT at scale — solving it unlocks the $1.3T market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Ch.5-6, Pg 94-126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Cloud IoT Platforms: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521262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Core: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size: 100M+ registered devices per account; 1B messages/day throughput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services: IoT Core (MQTT/HTTPS broker), Greengrass (edge), SiteWise (industrial), TwinMaker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deepest AWS service integration, Lambda rules engine, SageMaker ML pipeline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IoT Hub: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MQTT, AMQP, HTTPS; device-to-cloud + cloud-to-device messaging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 service: graph-based live environment model, DTDL (Digital Twin Definition Language)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enterprise Windows/Active Directory integration, Time Series Insights, Azure ML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IoT Core (discontinued 2023 → Clearblade IoT Core):</a:t>
            </a:r>
            <a:endParaRPr lang="en-US" sz="16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learned: even Google failed at IoT platform — market consolidating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selection criteria: existing cloud vendor, required ML services, edge computing needs, pricing model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 for cross-platform: NGSI-LD (JSON-LD + semantic web) is emerging as the standard for semantic IoT data exchange between EU platforms (FIWARE-based)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Ch.5-6, Pg 94-126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 Patterns: How Systems Connect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1" y="896111"/>
            <a:ext cx="8869680" cy="4082785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 — Direct Device-to-Cloud (D2C):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publishes directly to AWS IoT Core or Azure IoT Hub via MQTT over TLS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device has 4G/Wi-Fi and enough processing power for TLS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simplest architecture; disadvantage: no local fallback if internet drops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— Hub-and-Spoke via Gateway: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gateway (Raspberry Pi) collects BLE/Zigbee devices locally, forwards to cloud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devices are low-power and cannot handle cloud TLS directly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local processing + store-and-forward when offline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 — Event-Driven via Message Queue: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 → MQTT broker → Apache Kafka → microservices (Node-RED, Lambda)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many consumers need the same data (analytics + alerting + digital twin + storage simultaneously)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4 — Peer-to-Peer (Matter/Thread):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communicate directly without cloud — local control, privacy-preserving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smart home / building; cloud dependency unacceptable for latency or privacy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5 — REST Pull (polling):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polls device for data on schedule — least efficient but simple to implement for monitoring dashboards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960607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Ch.5-6, Pg 94-126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Deep-Dive: MQTT vs. CoAP vs. HTTP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6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896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896112"/>
            <a:ext cx="0" cy="3749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40233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(pub/sub):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 TCP (QoS 0/1/2)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2 bytes fixed + variable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size: no limit (configurable)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publish/subscribe async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needed: yes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QoS: 3 levels (0/1/2)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TLS 1.2/1.3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telemetry, alerts, commands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Broker: Mosquitto, HiveMQ, AWS IoT 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79" y="1280160"/>
            <a:ext cx="423146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CoAP (request/response):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 UDP (with optional DTLS)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4 bytes fixed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size: &lt;1024 bytes typical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REST-like (GET/PUT/POST/DELETE)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broker needed: direct device-to-device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QoS: Confirmable (ACK) or Non-confirmable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DTLS (UDP equivalent of TLS)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constrained devices, resource access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Proxy: CoAP-to-HTTP proxy for cloud integration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Ch.5-6, Pg 94-126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Web of Things (WoT): Semantic Interoperability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8229600" cy="3611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WoT Working Group (2019): semantic layer to make IoT interoperable via web standards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concept: Thing Description (TD) — machine-readable JSON-LD document describing an IoT device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contains: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Properties: readable state (e.g., 'temperature' with unit, data type, observable flag)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invokable operations (e.g., 'setSetpoint' with input schema)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Events: async notifications (e.g., 'overheat' event with threshold)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Forms: protocol bindings — how to access each property via MQTT, CoAP, or HTTP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benefit: same client code can control any WoT-compliant device regardless of underlying protocol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TD use case: 'Find all temperature sensors in Building A with range 0–100°C' — discoverable via WoT Directory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Implementations: node-wot (Node.js), Eclipse ThingWeb, Siemens (contributed core WoT library)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other standards: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WoT TDs can wrap existing MQTT/HTTP/CoAP APIs without changing device firmware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WoT Discovery uses IETF CoRE Resource Directory and DNS-SD for local device discovery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ETSI ISG CIM: NGSI-LD standard uses JSON-LD (same as WoT TD) for context broker queries — convergence happening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8508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Book-1, Ch.5-6, Pg 94-126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Session 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Wokwi Browser Simulator — No hardware required</a:t>
            </a:r>
            <a:endParaRPr lang="en-US" sz="1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B0A76F5-DF94-5D67-DC66-3E5AEF856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0" y="984250"/>
            <a:ext cx="3175000" cy="3175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3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LAB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9377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2: ESP32 + DHT22 on Wokwi + MQTT to HiveMQ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509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Wokwi.com (browser) + paho-mqtt Python or HiveMQ WebSocket client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90250"/>
            <a:ext cx="8412480" cy="3201789"/>
          </a:xfrm>
          <a:prstGeom prst="rect">
            <a:avLst/>
          </a:prstGeom>
          <a:noFill/>
          <a:ln/>
        </p:spPr>
        <p:txBody>
          <a:bodyPr wrap="square" lIns="0" tIns="50800" rIns="0" bIns="0" numCol="2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</a:t>
            </a:r>
            <a:r>
              <a:rPr lang="en-US" sz="1250" dirty="0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r>
              <a:rPr lang="en-US" sz="1250" dirty="0" err="1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Wokwi</a:t>
            </a:r>
            <a:r>
              <a:rPr lang="en-US" sz="1250" dirty="0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template:</a:t>
            </a:r>
            <a:endParaRPr lang="en-US" sz="1250" dirty="0">
              <a:highlight>
                <a:srgbClr val="FFFF00"/>
              </a:highlight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Go to wokwi.com → New Project → ESP32 template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Add DHT22 sensor from component library (drag and drop)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Wire: DHT22 DATA → GPIO 15, VCC → 3.3V, GND → GND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</a:t>
            </a:r>
            <a:r>
              <a:rPr lang="en-US" sz="1250" dirty="0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Write firmware:</a:t>
            </a:r>
            <a:endParaRPr lang="en-US" sz="1250" dirty="0">
              <a:highlight>
                <a:srgbClr val="FFFF00"/>
              </a:highlight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Include: WiFi.h, PubSubClient.h, DHT.h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Connect to Wokwi's virtual Wi-Fi (SSID: 'Wokwi-GUEST', password: '')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MQTT broker: broker.hivemq.com:1883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Loop: read DHT22 → format JSON → publish to 'wokwi/iot/dht22'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</a:t>
            </a:r>
            <a:r>
              <a:rPr lang="en-US" sz="1250" dirty="0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Subscribe and verify</a:t>
            </a:r>
            <a:endParaRPr lang="en-US" sz="1250" dirty="0">
              <a:highlight>
                <a:srgbClr val="FFFF00"/>
              </a:highlight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On your laptop: python3 -c 'import paho.mqtt.client as m; ...' to subscribe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OR use HiveMQ Web Client at hivemq.com/demos/websocket-client/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</a:t>
            </a:r>
            <a:r>
              <a:rPr lang="en-US" sz="1250" dirty="0"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Add control flow</a:t>
            </a:r>
            <a:endParaRPr lang="en-US" sz="1250" dirty="0">
              <a:highlight>
                <a:srgbClr val="FFFF00"/>
              </a:highlight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Modify firmware: subscribe to 'wokwi/iot/led/control'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When 'ON' received, light simulated LED; when 'OFF', turn off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Wokwi project URL (shareable link) + screenshot of MQTT messages</a:t>
            </a:r>
            <a:endParaRPr lang="en-US" sz="125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7DE9E70-BE8E-DA50-0D70-FF213D510EBD}"/>
              </a:ext>
            </a:extLst>
          </p:cNvPr>
          <p:cNvSpPr txBox="1"/>
          <p:nvPr/>
        </p:nvSpPr>
        <p:spPr>
          <a:xfrm>
            <a:off x="457199" y="1149077"/>
            <a:ext cx="7362497" cy="54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altLang="zh-TW" sz="125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r>
              <a:rPr lang="en-US" altLang="zh-TW" sz="1250" b="1" dirty="0" err="1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Wokwi.com</a:t>
            </a:r>
            <a:r>
              <a:rPr lang="en-US" altLang="zh-TW" sz="125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free in-browser ESP32 / Arduino simulator (no account needed)</a:t>
            </a:r>
            <a:endParaRPr lang="en-US" altLang="zh-TW" sz="125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altLang="zh-TW" sz="125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simulate a temperature/humidity IoT node publishing to a public MQTT broker</a:t>
            </a:r>
            <a:endParaRPr lang="en-US" altLang="zh-TW" sz="125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Wokwi Firmware: ESP32 + DHT22 → MQTT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52137" y="746025"/>
            <a:ext cx="8806618" cy="4157997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43531" y="141101"/>
            <a:ext cx="14261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(Arduino/ESP-IDF)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4072" y="846607"/>
            <a:ext cx="8615855" cy="3891877"/>
          </a:xfrm>
          <a:prstGeom prst="rect">
            <a:avLst/>
          </a:prstGeom>
          <a:noFill/>
          <a:ln/>
        </p:spPr>
        <p:txBody>
          <a:bodyPr wrap="square" lIns="0" tIns="50800" rIns="0" bIns="0" numCol="2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&lt;WiFi.h&gt;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&lt;PubSubClient.h&gt;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&lt;DHT.h&gt;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DHTPIN  15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DHTTYPE DHT22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DHT dht(DHTPIN, DHTTYPE);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char* ssid   = "Wokwi-GUEST";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char* pass   = "";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char* broker = "broker.hivemq.com";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char* topic  = "wokwi/iot/dht22";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WiFiClient wifi;  PubSubClient mqtt(wifi);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Serial.begin(115200);  dht.begin();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WiFi.begin(ssid, pass);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(WiFi.status() != WL_CONNECTED) delay(500);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mqtt.setServer(broker, 1883);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mqtt.connect("wokwi-esp32");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t = dht.readTemperature();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h = dht.readHumidity();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buf[80];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snprintf(buf, 80, '{"temp":%.1f,"hum":%.1f}', t, h);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mqtt.publish(topic, buf);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delay(2000);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194560" cy="438912"/>
          </a:xfrm>
          <a:prstGeom prst="roundRect">
            <a:avLst>
              <a:gd name="adj" fmla="val 1041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Class 2 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199" y="1371600"/>
            <a:ext cx="8489731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tags (RFID, NFC, BLE) provide scalable physical-world identification without manual data entry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UHF RFID ($0.05/tag) dominates supply chain; Active RFID/UWB enables real-time asset tracking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= 13.56 MHz, &lt;4 cm range; used for contactless payment, device onboarding, and authentication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(ESP32, nRF52840): low-power sensor nodes; SBC (Raspberry Pi): gateway and local inference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protocol stack: IEEE 802.15.4 → 6LoWPAN → IPv6 → UDP → CoAP (or TCP → MQTT) at application layer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MQTT: pub/sub over TCP, 2-byte header, QoS 0/1/2; the standard messaging protocol for IoT telemetry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architecture: Edge (MCU+sensors) → Fog (gateway+local processing) → Cloud (platform+AI)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levels: technical → syntactic → semantic → organizational; semantic is hardest and most valuable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WoT Thing Descriptions: JSON-LD metadata enabling cross-platform discovery and unified API access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Wokwi ESP32 simulator publishes DHT22 data via MQTT to HiveMQ — complete IoT pipeline in browser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Book-1: Springer Handbook of IoT (Ziegler, 2024)  |  Book-2: Hands-On Industrial IoT (Veneri, 2024)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4518</Words>
  <Application>Microsoft Macintosh PowerPoint</Application>
  <PresentationFormat>如螢幕大小 (16:9)</PresentationFormat>
  <Paragraphs>403</Paragraphs>
  <Slides>27</Slides>
  <Notes>27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Pao-Ann Hsiung</cp:lastModifiedBy>
  <cp:revision>9</cp:revision>
  <dcterms:created xsi:type="dcterms:W3CDTF">2026-07-11T13:24:11Z</dcterms:created>
  <dcterms:modified xsi:type="dcterms:W3CDTF">2026-09-28T19:22:34Z</dcterms:modified>
</cp:coreProperties>
</file>